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media/image10.svg" ContentType="image/svg+xml"/>
  <Override PartName="/ppt/media/image11.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9.svg" ContentType="image/svg+xml"/>
  <Override PartName="/ppt/media/image40.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5.svg" ContentType="image/svg+xml"/>
  <Override PartName="/ppt/media/image50.svg" ContentType="image/svg+xml"/>
  <Override PartName="/ppt/media/image6.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8" r:id="rId14"/>
    <p:sldId id="270" r:id="rId15"/>
    <p:sldId id="272" r:id="rId16"/>
    <p:sldId id="274" r:id="rId17"/>
    <p:sldId id="276" r:id="rId18"/>
    <p:sldId id="278" r:id="rId19"/>
    <p:sldId id="280" r:id="rId20"/>
    <p:sldId id="282" r:id="rId21"/>
  </p:sldIdLst>
  <p:sldSz cx="14630400" cy="8229600"/>
  <p:notesSz cx="8229600" cy="14630400"/>
  <p:embeddedFontLst>
    <p:embeddedFont>
      <p:font typeface="Merriweather" panose="00000500000000000000" pitchFamily="34" charset="0"/>
      <p:regular r:id="rId25"/>
    </p:embeddedFont>
    <p:embeddedFont>
      <p:font typeface="Merriweather" panose="00000500000000000000" pitchFamily="34" charset="-122"/>
      <p:regular r:id="rId26"/>
    </p:embeddedFont>
    <p:embeddedFont>
      <p:font typeface="Merriweather" panose="00000500000000000000" pitchFamily="34" charset="-120"/>
      <p:regular r:id="rId27"/>
    </p:embeddedFont>
    <p:embeddedFont>
      <p:font typeface="Calibri" panose="020F0502020204030204" charset="0"/>
      <p:regular r:id="rId28"/>
      <p:bold r:id="rId29"/>
      <p:italic r:id="rId30"/>
      <p:boldItalic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7.fntdata"/><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image" Target="../media/image7.svg"/><Relationship Id="rId4" Type="http://schemas.openxmlformats.org/officeDocument/2006/relationships/image" Target="../media/image6.sv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4" Type="http://schemas.openxmlformats.org/officeDocument/2006/relationships/notesSlide" Target="../notesSlides/notesSlide5.xml"/><Relationship Id="rId43" Type="http://schemas.openxmlformats.org/officeDocument/2006/relationships/slideLayout" Target="../slideLayouts/slideLayout6.xml"/><Relationship Id="rId42" Type="http://schemas.openxmlformats.org/officeDocument/2006/relationships/tags" Target="../tags/tag42.xml"/><Relationship Id="rId41" Type="http://schemas.openxmlformats.org/officeDocument/2006/relationships/tags" Target="../tags/tag41.xml"/><Relationship Id="rId40" Type="http://schemas.openxmlformats.org/officeDocument/2006/relationships/tags" Target="../tags/tag40.xml"/><Relationship Id="rId4" Type="http://schemas.openxmlformats.org/officeDocument/2006/relationships/tags" Target="../tags/tag4.xml"/><Relationship Id="rId39" Type="http://schemas.openxmlformats.org/officeDocument/2006/relationships/tags" Target="../tags/tag39.xml"/><Relationship Id="rId38" Type="http://schemas.openxmlformats.org/officeDocument/2006/relationships/tags" Target="../tags/tag38.xml"/><Relationship Id="rId37" Type="http://schemas.openxmlformats.org/officeDocument/2006/relationships/tags" Target="../tags/tag37.xml"/><Relationship Id="rId36" Type="http://schemas.openxmlformats.org/officeDocument/2006/relationships/tags" Target="../tags/tag36.xml"/><Relationship Id="rId35" Type="http://schemas.openxmlformats.org/officeDocument/2006/relationships/tags" Target="../tags/tag35.xml"/><Relationship Id="rId34" Type="http://schemas.openxmlformats.org/officeDocument/2006/relationships/tags" Target="../tags/tag34.xml"/><Relationship Id="rId33" Type="http://schemas.openxmlformats.org/officeDocument/2006/relationships/tags" Target="../tags/tag33.xml"/><Relationship Id="rId32" Type="http://schemas.openxmlformats.org/officeDocument/2006/relationships/tags" Target="../tags/tag32.xml"/><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3.xml"/><Relationship Id="rId29" Type="http://schemas.openxmlformats.org/officeDocument/2006/relationships/tags" Target="../tags/tag29.xml"/><Relationship Id="rId28" Type="http://schemas.openxmlformats.org/officeDocument/2006/relationships/tags" Target="../tags/tag28.xml"/><Relationship Id="rId27" Type="http://schemas.openxmlformats.org/officeDocument/2006/relationships/tags" Target="../tags/tag27.xml"/><Relationship Id="rId26" Type="http://schemas.openxmlformats.org/officeDocument/2006/relationships/tags" Target="../tags/tag26.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image" Target="../media/image9.svg"/><Relationship Id="rId3" Type="http://schemas.openxmlformats.org/officeDocument/2006/relationships/image" Target="../media/image4.png"/><Relationship Id="rId2" Type="http://schemas.openxmlformats.org/officeDocument/2006/relationships/tags" Target="../tags/tag44.xml"/><Relationship Id="rId19" Type="http://schemas.openxmlformats.org/officeDocument/2006/relationships/notesSlide" Target="../notesSlides/notesSlide6.xml"/><Relationship Id="rId18" Type="http://schemas.openxmlformats.org/officeDocument/2006/relationships/slideLayout" Target="../slideLayouts/slideLayout7.xml"/><Relationship Id="rId17" Type="http://schemas.openxmlformats.org/officeDocument/2006/relationships/image" Target="../media/image12.png"/><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image" Target="../media/image11.svg"/><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3.xml"/></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8.xml"/><Relationship Id="rId7" Type="http://schemas.openxmlformats.org/officeDocument/2006/relationships/image" Target="../media/image18.svg"/><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 Id="rId3" Type="http://schemas.openxmlformats.org/officeDocument/2006/relationships/image" Target="../media/image14.svg"/><Relationship Id="rId2" Type="http://schemas.openxmlformats.org/officeDocument/2006/relationships/image" Target="../media/image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9.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1.xml"/><Relationship Id="rId7" Type="http://schemas.openxmlformats.org/officeDocument/2006/relationships/image" Target="../media/image29.svg"/><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image" Target="../media/image31.png"/><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image" Target="../media/image30.png"/><Relationship Id="rId18" Type="http://schemas.openxmlformats.org/officeDocument/2006/relationships/notesSlide" Target="../notesSlides/notesSlide11.xml"/><Relationship Id="rId17" Type="http://schemas.openxmlformats.org/officeDocument/2006/relationships/slideLayout" Target="../slideLayouts/slideLayout4.xml"/><Relationship Id="rId16" Type="http://schemas.openxmlformats.org/officeDocument/2006/relationships/tags" Target="../tags/tag66.xml"/><Relationship Id="rId15" Type="http://schemas.openxmlformats.org/officeDocument/2006/relationships/tags" Target="../tags/tag65.xml"/><Relationship Id="rId14" Type="http://schemas.openxmlformats.org/officeDocument/2006/relationships/image" Target="../media/image33.png"/><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image" Target="../media/image32.png"/><Relationship Id="rId1" Type="http://schemas.openxmlformats.org/officeDocument/2006/relationships/tags" Target="../tags/tag55.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5.xml"/><Relationship Id="rId5" Type="http://schemas.openxmlformats.org/officeDocument/2006/relationships/image" Target="../media/image37.svg"/><Relationship Id="rId4" Type="http://schemas.openxmlformats.org/officeDocument/2006/relationships/image" Target="../media/image36.svg"/><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8.xml"/><Relationship Id="rId5" Type="http://schemas.openxmlformats.org/officeDocument/2006/relationships/image" Target="../media/image41.svg"/><Relationship Id="rId4" Type="http://schemas.openxmlformats.org/officeDocument/2006/relationships/image" Target="../media/image6.svg"/><Relationship Id="rId3" Type="http://schemas.openxmlformats.org/officeDocument/2006/relationships/image" Target="../media/image40.svg"/><Relationship Id="rId2" Type="http://schemas.openxmlformats.org/officeDocument/2006/relationships/image" Target="../media/image39.sv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48.png"/><Relationship Id="rId7" Type="http://schemas.openxmlformats.org/officeDocument/2006/relationships/image" Target="../media/image47.svg"/><Relationship Id="rId6" Type="http://schemas.openxmlformats.org/officeDocument/2006/relationships/image" Target="../media/image46.png"/><Relationship Id="rId5" Type="http://schemas.openxmlformats.org/officeDocument/2006/relationships/image" Target="../media/image45.svg"/><Relationship Id="rId4" Type="http://schemas.openxmlformats.org/officeDocument/2006/relationships/image" Target="../media/image44.png"/><Relationship Id="rId3" Type="http://schemas.openxmlformats.org/officeDocument/2006/relationships/image" Target="../media/image43.svg"/><Relationship Id="rId2" Type="http://schemas.openxmlformats.org/officeDocument/2006/relationships/image" Target="../media/image4.png"/><Relationship Id="rId13" Type="http://schemas.openxmlformats.org/officeDocument/2006/relationships/notesSlide" Target="../notesSlides/notesSlide16.xml"/><Relationship Id="rId12" Type="http://schemas.openxmlformats.org/officeDocument/2006/relationships/slideLayout" Target="../slideLayouts/slideLayout9.xml"/><Relationship Id="rId11" Type="http://schemas.openxmlformats.org/officeDocument/2006/relationships/image" Target="../media/image50.svg"/><Relationship Id="rId10" Type="http://schemas.openxmlformats.org/officeDocument/2006/relationships/image" Target="../media/image49.png"/><Relationship Id="rId1" Type="http://schemas.openxmlformats.org/officeDocument/2006/relationships/image" Target="../media/image4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63798" y="1637705"/>
            <a:ext cx="7416403" cy="1542574"/>
          </a:xfrm>
          <a:prstGeom prst="rect">
            <a:avLst/>
          </a:prstGeom>
          <a:noFill/>
        </p:spPr>
        <p:txBody>
          <a:bodyPr wrap="square" lIns="0" tIns="0" rIns="0" bIns="0" rtlCol="0" anchor="t"/>
          <a:lstStyle/>
          <a:p>
            <a:pPr marL="0" indent="0" algn="l">
              <a:lnSpc>
                <a:spcPts val="6050"/>
              </a:lnSpc>
              <a:buNone/>
            </a:pPr>
            <a:r>
              <a:rPr lang="en-US" sz="48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Agentic AI for Disaster Management System</a:t>
            </a:r>
            <a:endParaRPr lang="en-US" sz="4850" dirty="0"/>
          </a:p>
        </p:txBody>
      </p:sp>
      <p:sp>
        <p:nvSpPr>
          <p:cNvPr id="4" name="Text 1"/>
          <p:cNvSpPr/>
          <p:nvPr/>
        </p:nvSpPr>
        <p:spPr>
          <a:xfrm>
            <a:off x="863798" y="3550444"/>
            <a:ext cx="7416403" cy="1184434"/>
          </a:xfrm>
          <a:prstGeom prst="rect">
            <a:avLst/>
          </a:prstGeom>
          <a:noFill/>
        </p:spPr>
        <p:txBody>
          <a:bodyPr wrap="square" lIns="0" tIns="0" rIns="0" bIns="0" rtlCol="0" anchor="t"/>
          <a:lstStyle/>
          <a:p>
            <a:pPr marL="0" indent="0" algn="l">
              <a:lnSpc>
                <a:spcPts val="3100"/>
              </a:lnSpc>
              <a:buNone/>
            </a:pPr>
            <a:r>
              <a:rPr lang="en-US" sz="19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School of Computer Science Engineering and Information Systems</a:t>
            </a: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a:t>
            </a:r>
            <a:endParaRPr lang="en-US" sz="1900" dirty="0"/>
          </a:p>
        </p:txBody>
      </p:sp>
      <p:sp>
        <p:nvSpPr>
          <p:cNvPr id="5" name="Text 2"/>
          <p:cNvSpPr/>
          <p:nvPr/>
        </p:nvSpPr>
        <p:spPr>
          <a:xfrm>
            <a:off x="863798" y="5012531"/>
            <a:ext cx="7416403" cy="1579245"/>
          </a:xfrm>
          <a:prstGeom prst="rect">
            <a:avLst/>
          </a:prstGeom>
          <a:noFill/>
        </p:spPr>
        <p:txBody>
          <a:bodyPr wrap="square" lIns="0" tIns="0" rIns="0" bIns="0" rtlCol="0" anchor="t"/>
          <a:lstStyle/>
          <a:p>
            <a:pPr marL="0" indent="0" algn="l">
              <a:lnSpc>
                <a:spcPts val="3100"/>
              </a:lnSpc>
              <a:buNone/>
            </a:pPr>
            <a:r>
              <a:rPr lang="en-US" sz="19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Winter Semester 2025-2026</a:t>
            </a: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a:t>
            </a:r>
            <a:endParaRPr lang="en-US" sz="1900" dirty="0"/>
          </a:p>
          <a:p>
            <a:pPr marL="0" indent="0" algn="l">
              <a:lnSpc>
                <a:spcPts val="3100"/>
              </a:lnSpc>
              <a:buNone/>
            </a:pPr>
            <a:endPar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a:p>
            <a:pPr marL="0" indent="0" algn="l">
              <a:lnSpc>
                <a:spcPts val="310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Presented by </a:t>
            </a:r>
            <a:r>
              <a:rPr lang="en-US" sz="1900" dirty="0">
                <a:solidFill>
                  <a:schemeClr val="bg1"/>
                </a:solidFill>
                <a:latin typeface="Merriweather" panose="00000500000000000000" pitchFamily="34" charset="0"/>
                <a:ea typeface="Merriweather" panose="00000500000000000000" pitchFamily="34" charset="-122"/>
                <a:cs typeface="Merriweather" panose="00000500000000000000" pitchFamily="34" charset="-120"/>
              </a:rPr>
              <a:t>Sakthipoorani D - 21MIS0333 </a:t>
            </a:r>
            <a:endParaRPr lang="en-US" sz="1900" dirty="0">
              <a:solidFill>
                <a:schemeClr val="bg1"/>
              </a:solidFill>
              <a:latin typeface="Merriweather" panose="00000500000000000000" pitchFamily="34" charset="0"/>
              <a:ea typeface="Merriweather" panose="00000500000000000000" pitchFamily="34" charset="-122"/>
              <a:cs typeface="Merriweather" panose="00000500000000000000" pitchFamily="34" charset="-120"/>
            </a:endParaRPr>
          </a:p>
          <a:p>
            <a:pPr marL="0" indent="0" algn="l">
              <a:lnSpc>
                <a:spcPts val="3100"/>
              </a:lnSpc>
              <a:buNone/>
            </a:pPr>
            <a:r>
              <a:rPr lang="en-US" sz="1900" dirty="0">
                <a:solidFill>
                  <a:schemeClr val="bg1"/>
                </a:solidFill>
                <a:latin typeface="Merriweather" panose="00000500000000000000" pitchFamily="34" charset="0"/>
                <a:ea typeface="Merriweather" panose="00000500000000000000" pitchFamily="34" charset="-122"/>
                <a:cs typeface="Merriweather" panose="00000500000000000000" pitchFamily="34" charset="-120"/>
              </a:rPr>
              <a:t>under the guidance of  Dr. Brindha K</a:t>
            </a:r>
            <a:endParaRPr lang="en-US" sz="1900" dirty="0">
              <a:solidFill>
                <a:schemeClr val="bg1"/>
              </a:solidFill>
              <a:latin typeface="Merriweather" panose="00000500000000000000" pitchFamily="34" charset="0"/>
              <a:ea typeface="Merriweather" panose="00000500000000000000" pitchFamily="34" charset="-122"/>
              <a:cs typeface="Merriweather" panose="00000500000000000000"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1049" y="1424107"/>
            <a:ext cx="11708844" cy="688419"/>
          </a:xfrm>
          <a:prstGeom prst="rect">
            <a:avLst/>
          </a:prstGeom>
          <a:noFill/>
        </p:spPr>
        <p:txBody>
          <a:bodyPr wrap="none" lIns="0" tIns="0" rIns="0" bIns="0" rtlCol="0" anchor="t"/>
          <a:lstStyle/>
          <a:p>
            <a:pPr marL="0" indent="0" algn="l">
              <a:lnSpc>
                <a:spcPts val="5400"/>
              </a:lnSpc>
              <a:buNone/>
            </a:pPr>
            <a:r>
              <a:rPr lang="en-US" sz="43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Abstract: Revolutionizing Disaster Response</a:t>
            </a:r>
            <a:endParaRPr lang="en-US" sz="4300" dirty="0"/>
          </a:p>
        </p:txBody>
      </p:sp>
      <p:sp>
        <p:nvSpPr>
          <p:cNvPr id="3" name="Text 1"/>
          <p:cNvSpPr/>
          <p:nvPr/>
        </p:nvSpPr>
        <p:spPr>
          <a:xfrm>
            <a:off x="771049" y="2505789"/>
            <a:ext cx="13088303" cy="1000125"/>
          </a:xfrm>
          <a:prstGeom prst="rect">
            <a:avLst/>
          </a:prstGeom>
          <a:noFill/>
        </p:spPr>
        <p:txBody>
          <a:bodyPr wrap="square" lIns="0" tIns="0" rIns="0" bIns="0" rtlCol="0" anchor="t"/>
          <a:lstStyle/>
          <a:p>
            <a:pPr marL="0" indent="0" algn="l">
              <a:lnSpc>
                <a:spcPts val="2600"/>
              </a:lnSpc>
              <a:buNone/>
            </a:pPr>
            <a:r>
              <a:rPr lang="en-US" sz="17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Rapid urbanization and climate change have heightened the vulnerability of urban regions to natural and human-induced disasters. Current disaster response systems often suffer from delayed response times, inefficient coordination, and suboptimal resource utilization due to their reactive, centralized, and human-dependent nature.</a:t>
            </a:r>
            <a:endParaRPr lang="en-US" sz="1700" dirty="0"/>
          </a:p>
        </p:txBody>
      </p:sp>
      <p:sp>
        <p:nvSpPr>
          <p:cNvPr id="4" name="Shape 2"/>
          <p:cNvSpPr/>
          <p:nvPr/>
        </p:nvSpPr>
        <p:spPr>
          <a:xfrm>
            <a:off x="771049" y="3727133"/>
            <a:ext cx="6445806" cy="3078361"/>
          </a:xfrm>
          <a:prstGeom prst="roundRect">
            <a:avLst>
              <a:gd name="adj" fmla="val 3006"/>
            </a:avLst>
          </a:prstGeom>
          <a:solidFill>
            <a:srgbClr val="09151A">
              <a:alpha val="95000"/>
            </a:srgbClr>
          </a:solidFill>
          <a:ln w="30480">
            <a:solidFill>
              <a:srgbClr val="194A99"/>
            </a:solidFill>
            <a:prstDash val="solid"/>
          </a:ln>
        </p:spPr>
      </p:sp>
      <p:sp>
        <p:nvSpPr>
          <p:cNvPr id="5" name="Shape 3"/>
          <p:cNvSpPr/>
          <p:nvPr/>
        </p:nvSpPr>
        <p:spPr>
          <a:xfrm>
            <a:off x="801529" y="3757613"/>
            <a:ext cx="6384846" cy="660916"/>
          </a:xfrm>
          <a:prstGeom prst="roundRect">
            <a:avLst>
              <a:gd name="adj" fmla="val 8466"/>
            </a:avLst>
          </a:prstGeom>
          <a:solidFill>
            <a:srgbClr val="003180"/>
          </a:solidFill>
        </p:spPr>
      </p:sp>
      <p:sp>
        <p:nvSpPr>
          <p:cNvPr id="6" name="Text 4"/>
          <p:cNvSpPr/>
          <p:nvPr/>
        </p:nvSpPr>
        <p:spPr>
          <a:xfrm>
            <a:off x="3828693" y="3877747"/>
            <a:ext cx="330398" cy="413028"/>
          </a:xfrm>
          <a:prstGeom prst="rect">
            <a:avLst/>
          </a:prstGeom>
          <a:noFill/>
        </p:spPr>
        <p:txBody>
          <a:bodyPr wrap="none" lIns="0" tIns="0" rIns="0" bIns="0" rtlCol="0" anchor="t"/>
          <a:lstStyle/>
          <a:p>
            <a:pPr marL="0" indent="0" algn="l">
              <a:lnSpc>
                <a:spcPts val="2600"/>
              </a:lnSpc>
              <a:buNone/>
            </a:pPr>
            <a:r>
              <a:rPr lang="en-US" sz="2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1</a:t>
            </a:r>
            <a:endParaRPr lang="en-US" sz="2600" dirty="0"/>
          </a:p>
        </p:txBody>
      </p:sp>
      <p:sp>
        <p:nvSpPr>
          <p:cNvPr id="7" name="Shape 5"/>
          <p:cNvSpPr/>
          <p:nvPr/>
        </p:nvSpPr>
        <p:spPr>
          <a:xfrm>
            <a:off x="1021794" y="4615101"/>
            <a:ext cx="1178362" cy="398859"/>
          </a:xfrm>
          <a:prstGeom prst="roundRect">
            <a:avLst>
              <a:gd name="adj" fmla="val 18559"/>
            </a:avLst>
          </a:prstGeom>
          <a:solidFill>
            <a:srgbClr val="001D4D"/>
          </a:solidFill>
        </p:spPr>
      </p:sp>
      <p:sp>
        <p:nvSpPr>
          <p:cNvPr id="8" name="Text 6"/>
          <p:cNvSpPr/>
          <p:nvPr/>
        </p:nvSpPr>
        <p:spPr>
          <a:xfrm>
            <a:off x="1153954" y="4681180"/>
            <a:ext cx="914043" cy="266700"/>
          </a:xfrm>
          <a:prstGeom prst="rect">
            <a:avLst/>
          </a:prstGeom>
          <a:noFill/>
        </p:spPr>
        <p:txBody>
          <a:bodyPr wrap="none" lIns="0" tIns="0" rIns="0" bIns="0" rtlCol="0" anchor="t"/>
          <a:lstStyle/>
          <a:p>
            <a:pPr marL="0" indent="0" algn="l">
              <a:lnSpc>
                <a:spcPts val="2100"/>
              </a:lnSpc>
              <a:buNone/>
            </a:pPr>
            <a:r>
              <a:rPr lang="en-US" sz="13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SOLUTION</a:t>
            </a:r>
            <a:endParaRPr lang="en-US" sz="1350" dirty="0"/>
          </a:p>
        </p:txBody>
      </p:sp>
      <p:sp>
        <p:nvSpPr>
          <p:cNvPr id="9" name="Text 7"/>
          <p:cNvSpPr/>
          <p:nvPr/>
        </p:nvSpPr>
        <p:spPr>
          <a:xfrm>
            <a:off x="1021794" y="5092541"/>
            <a:ext cx="3765590" cy="344210"/>
          </a:xfrm>
          <a:prstGeom prst="rect">
            <a:avLst/>
          </a:prstGeom>
          <a:noFill/>
        </p:spPr>
        <p:txBody>
          <a:bodyPr wrap="none" lIns="0" tIns="0" rIns="0" bIns="0" rtlCol="0" anchor="t"/>
          <a:lstStyle/>
          <a:p>
            <a:pPr marL="0" indent="0" algn="l">
              <a:lnSpc>
                <a:spcPts val="2700"/>
              </a:lnSpc>
              <a:buNone/>
            </a:pPr>
            <a:r>
              <a:rPr lang="en-US" sz="21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AGENT-RESCUE Framework</a:t>
            </a:r>
            <a:endParaRPr lang="en-US" sz="2150" dirty="0"/>
          </a:p>
        </p:txBody>
      </p:sp>
      <p:sp>
        <p:nvSpPr>
          <p:cNvPr id="10" name="Text 8"/>
          <p:cNvSpPr/>
          <p:nvPr/>
        </p:nvSpPr>
        <p:spPr>
          <a:xfrm>
            <a:off x="1021794" y="5554623"/>
            <a:ext cx="5944314" cy="1000125"/>
          </a:xfrm>
          <a:prstGeom prst="rect">
            <a:avLst/>
          </a:prstGeom>
          <a:noFill/>
        </p:spPr>
        <p:txBody>
          <a:bodyPr wrap="square" lIns="0" tIns="0" rIns="0" bIns="0" rtlCol="0" anchor="t"/>
          <a:lstStyle/>
          <a:p>
            <a:pPr marL="0" indent="0" algn="l">
              <a:lnSpc>
                <a:spcPts val="2600"/>
              </a:lnSpc>
              <a:buNone/>
            </a:pPr>
            <a:r>
              <a:rPr lang="en-US" sz="17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This project proposes an </a:t>
            </a:r>
            <a:r>
              <a:rPr lang="en-US" sz="17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Agentic AI-based framework</a:t>
            </a:r>
            <a:r>
              <a:rPr lang="en-US" sz="17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for Disaster Response and Urban Emergency Management.</a:t>
            </a:r>
            <a:endParaRPr lang="en-US" sz="1700" dirty="0"/>
          </a:p>
        </p:txBody>
      </p:sp>
      <p:sp>
        <p:nvSpPr>
          <p:cNvPr id="11" name="Shape 9"/>
          <p:cNvSpPr/>
          <p:nvPr/>
        </p:nvSpPr>
        <p:spPr>
          <a:xfrm>
            <a:off x="7413427" y="3727133"/>
            <a:ext cx="6445925" cy="3078361"/>
          </a:xfrm>
          <a:prstGeom prst="roundRect">
            <a:avLst>
              <a:gd name="adj" fmla="val 3006"/>
            </a:avLst>
          </a:prstGeom>
          <a:solidFill>
            <a:srgbClr val="09151A">
              <a:alpha val="95000"/>
            </a:srgbClr>
          </a:solidFill>
          <a:ln w="30480">
            <a:solidFill>
              <a:srgbClr val="194A99"/>
            </a:solidFill>
            <a:prstDash val="solid"/>
          </a:ln>
        </p:spPr>
      </p:sp>
      <p:sp>
        <p:nvSpPr>
          <p:cNvPr id="12" name="Shape 10"/>
          <p:cNvSpPr/>
          <p:nvPr/>
        </p:nvSpPr>
        <p:spPr>
          <a:xfrm>
            <a:off x="7443907" y="3757613"/>
            <a:ext cx="6384965" cy="660916"/>
          </a:xfrm>
          <a:prstGeom prst="roundRect">
            <a:avLst>
              <a:gd name="adj" fmla="val 8466"/>
            </a:avLst>
          </a:prstGeom>
          <a:solidFill>
            <a:srgbClr val="003180"/>
          </a:solidFill>
        </p:spPr>
      </p:sp>
      <p:sp>
        <p:nvSpPr>
          <p:cNvPr id="13" name="Text 11"/>
          <p:cNvSpPr/>
          <p:nvPr/>
        </p:nvSpPr>
        <p:spPr>
          <a:xfrm>
            <a:off x="10471190" y="3877747"/>
            <a:ext cx="330398" cy="413028"/>
          </a:xfrm>
          <a:prstGeom prst="rect">
            <a:avLst/>
          </a:prstGeom>
          <a:noFill/>
        </p:spPr>
        <p:txBody>
          <a:bodyPr wrap="none" lIns="0" tIns="0" rIns="0" bIns="0" rtlCol="0" anchor="t"/>
          <a:lstStyle/>
          <a:p>
            <a:pPr marL="0" indent="0" algn="l">
              <a:lnSpc>
                <a:spcPts val="2600"/>
              </a:lnSpc>
              <a:buNone/>
            </a:pPr>
            <a:r>
              <a:rPr lang="en-US" sz="2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2</a:t>
            </a:r>
            <a:endParaRPr lang="en-US" sz="2600" dirty="0"/>
          </a:p>
        </p:txBody>
      </p:sp>
      <p:sp>
        <p:nvSpPr>
          <p:cNvPr id="14" name="Shape 12"/>
          <p:cNvSpPr/>
          <p:nvPr/>
        </p:nvSpPr>
        <p:spPr>
          <a:xfrm>
            <a:off x="7664172" y="4615101"/>
            <a:ext cx="2064187" cy="398859"/>
          </a:xfrm>
          <a:prstGeom prst="roundRect">
            <a:avLst>
              <a:gd name="adj" fmla="val 18559"/>
            </a:avLst>
          </a:prstGeom>
          <a:solidFill>
            <a:srgbClr val="001D4D"/>
          </a:solidFill>
        </p:spPr>
      </p:sp>
      <p:sp>
        <p:nvSpPr>
          <p:cNvPr id="15" name="Text 13"/>
          <p:cNvSpPr/>
          <p:nvPr/>
        </p:nvSpPr>
        <p:spPr>
          <a:xfrm>
            <a:off x="7796332" y="4681180"/>
            <a:ext cx="1799868" cy="266700"/>
          </a:xfrm>
          <a:prstGeom prst="rect">
            <a:avLst/>
          </a:prstGeom>
          <a:noFill/>
        </p:spPr>
        <p:txBody>
          <a:bodyPr wrap="none" lIns="0" tIns="0" rIns="0" bIns="0" rtlCol="0" anchor="t"/>
          <a:lstStyle/>
          <a:p>
            <a:pPr marL="0" indent="0" algn="l">
              <a:lnSpc>
                <a:spcPts val="2100"/>
              </a:lnSpc>
              <a:buNone/>
            </a:pPr>
            <a:r>
              <a:rPr lang="en-US" sz="13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KEY TECHNOLOGIES</a:t>
            </a:r>
            <a:endParaRPr lang="en-US" sz="1350" dirty="0"/>
          </a:p>
        </p:txBody>
      </p:sp>
      <p:sp>
        <p:nvSpPr>
          <p:cNvPr id="16" name="Text 14"/>
          <p:cNvSpPr/>
          <p:nvPr/>
        </p:nvSpPr>
        <p:spPr>
          <a:xfrm>
            <a:off x="7664172" y="5092541"/>
            <a:ext cx="2753797" cy="344210"/>
          </a:xfrm>
          <a:prstGeom prst="rect">
            <a:avLst/>
          </a:prstGeom>
          <a:noFill/>
        </p:spPr>
        <p:txBody>
          <a:bodyPr wrap="none" lIns="0" tIns="0" rIns="0" bIns="0" rtlCol="0" anchor="t"/>
          <a:lstStyle/>
          <a:p>
            <a:pPr marL="0" indent="0" algn="l">
              <a:lnSpc>
                <a:spcPts val="2700"/>
              </a:lnSpc>
              <a:buNone/>
            </a:pPr>
            <a:r>
              <a:rPr lang="en-US" sz="21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Integrated AI Agents</a:t>
            </a:r>
            <a:endParaRPr lang="en-US" sz="2150" dirty="0"/>
          </a:p>
        </p:txBody>
      </p:sp>
      <p:sp>
        <p:nvSpPr>
          <p:cNvPr id="17" name="Text 15"/>
          <p:cNvSpPr/>
          <p:nvPr/>
        </p:nvSpPr>
        <p:spPr>
          <a:xfrm>
            <a:off x="7664172" y="5554623"/>
            <a:ext cx="5944433" cy="1000125"/>
          </a:xfrm>
          <a:prstGeom prst="rect">
            <a:avLst/>
          </a:prstGeom>
          <a:noFill/>
        </p:spPr>
        <p:txBody>
          <a:bodyPr wrap="square" lIns="0" tIns="0" rIns="0" bIns="0" rtlCol="0" anchor="t"/>
          <a:lstStyle/>
          <a:p>
            <a:pPr marL="0" indent="0" algn="l">
              <a:lnSpc>
                <a:spcPts val="2600"/>
              </a:lnSpc>
              <a:buNone/>
            </a:pPr>
            <a:r>
              <a:rPr lang="en-US" sz="17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Utilizes Machine Learning for prediction, NLP and Computer Vision for assessment, and Reinforcement Learning for resource optimization.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579477" y="1149033"/>
            <a:ext cx="7985046" cy="1034891"/>
          </a:xfrm>
          <a:prstGeom prst="rect">
            <a:avLst/>
          </a:prstGeom>
          <a:noFill/>
        </p:spPr>
        <p:txBody>
          <a:bodyPr wrap="square" lIns="0" tIns="0" rIns="0" bIns="0" rtlCol="0" anchor="t"/>
          <a:lstStyle/>
          <a:p>
            <a:pPr marL="0" indent="0" algn="l">
              <a:lnSpc>
                <a:spcPts val="4050"/>
              </a:lnSpc>
              <a:buNone/>
            </a:pPr>
            <a:r>
              <a:rPr lang="en-US" sz="32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Introduction: The Need for Intelligent Disaster Management</a:t>
            </a:r>
            <a:endParaRPr lang="en-US" sz="3250" dirty="0"/>
          </a:p>
        </p:txBody>
      </p:sp>
      <p:sp>
        <p:nvSpPr>
          <p:cNvPr id="4" name="Text 1"/>
          <p:cNvSpPr/>
          <p:nvPr/>
        </p:nvSpPr>
        <p:spPr>
          <a:xfrm>
            <a:off x="579477" y="2740382"/>
            <a:ext cx="7985046" cy="885349"/>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Disaster response and urban emergency management are critical for safeguarding lives, infrastructure, and economic stability. Urban disasters demand rapid, coordinated responses from multiple agencies, yet existing systems are often hampered by manual coordination and static decision-making under pressure.</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5" name="Shape 2"/>
          <p:cNvSpPr/>
          <p:nvPr/>
        </p:nvSpPr>
        <p:spPr>
          <a:xfrm>
            <a:off x="579477" y="4182428"/>
            <a:ext cx="2587704" cy="2423041"/>
          </a:xfrm>
          <a:prstGeom prst="roundRect">
            <a:avLst>
              <a:gd name="adj" fmla="val 2870"/>
            </a:avLst>
          </a:prstGeom>
          <a:solidFill>
            <a:srgbClr val="003180"/>
          </a:solidFill>
          <a:ln w="7620">
            <a:solidFill>
              <a:srgbClr val="194A99"/>
            </a:solidFill>
            <a:prstDash val="solid"/>
          </a:ln>
        </p:spPr>
      </p:sp>
      <p:sp>
        <p:nvSpPr>
          <p:cNvPr id="6" name="Shape 3"/>
          <p:cNvSpPr/>
          <p:nvPr/>
        </p:nvSpPr>
        <p:spPr>
          <a:xfrm>
            <a:off x="752594" y="4182189"/>
            <a:ext cx="496729" cy="496729"/>
          </a:xfrm>
          <a:prstGeom prst="roundRect">
            <a:avLst>
              <a:gd name="adj" fmla="val 18406587"/>
            </a:avLst>
          </a:prstGeom>
          <a:solidFill>
            <a:srgbClr val="609DFF"/>
          </a:solidFill>
        </p:spPr>
      </p:sp>
      <p:pic>
        <p:nvPicPr>
          <p:cNvPr id="7"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9159" y="4318754"/>
            <a:ext cx="223480" cy="223480"/>
          </a:xfrm>
          <a:prstGeom prst="rect">
            <a:avLst/>
          </a:prstGeom>
        </p:spPr>
      </p:pic>
      <p:sp>
        <p:nvSpPr>
          <p:cNvPr id="8" name="Text 4"/>
          <p:cNvSpPr/>
          <p:nvPr/>
        </p:nvSpPr>
        <p:spPr>
          <a:xfrm>
            <a:off x="752594" y="4789884"/>
            <a:ext cx="2069663" cy="258604"/>
          </a:xfrm>
          <a:prstGeom prst="rect">
            <a:avLst/>
          </a:prstGeom>
          <a:noFill/>
        </p:spPr>
        <p:txBody>
          <a:bodyPr wrap="none" lIns="0" tIns="0" rIns="0" bIns="0" rtlCol="0" anchor="t"/>
          <a:lstStyle/>
          <a:p>
            <a:pPr marL="0" indent="0" algn="l">
              <a:lnSpc>
                <a:spcPts val="2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Manual Limitations</a:t>
            </a:r>
            <a:endParaRPr lang="en-US" sz="1600" dirty="0"/>
          </a:p>
        </p:txBody>
      </p:sp>
      <p:sp>
        <p:nvSpPr>
          <p:cNvPr id="9" name="Text 5"/>
          <p:cNvSpPr/>
          <p:nvPr/>
        </p:nvSpPr>
        <p:spPr>
          <a:xfrm>
            <a:off x="752594" y="5115044"/>
            <a:ext cx="2241471" cy="664012"/>
          </a:xfrm>
          <a:prstGeom prst="rect">
            <a:avLst/>
          </a:prstGeom>
          <a:noFill/>
        </p:spPr>
        <p:txBody>
          <a:bodyPr wrap="square" lIns="0" tIns="0" rIns="0" bIns="0" rtlCol="0" anchor="t"/>
          <a:lstStyle/>
          <a:p>
            <a:pPr marL="0" indent="0" algn="l">
              <a:lnSpc>
                <a:spcPts val="1700"/>
              </a:lnSpc>
              <a:buNone/>
            </a:pPr>
            <a:r>
              <a:rPr lang="en-US" sz="13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Current systems struggle with high-pressure, rapidly evolving situations.</a:t>
            </a:r>
            <a:endParaRPr lang="en-US" sz="1300" dirty="0"/>
          </a:p>
        </p:txBody>
      </p:sp>
      <p:sp>
        <p:nvSpPr>
          <p:cNvPr id="10" name="Shape 6"/>
          <p:cNvSpPr/>
          <p:nvPr/>
        </p:nvSpPr>
        <p:spPr>
          <a:xfrm>
            <a:off x="3278783" y="4182428"/>
            <a:ext cx="2587704" cy="2423041"/>
          </a:xfrm>
          <a:prstGeom prst="roundRect">
            <a:avLst>
              <a:gd name="adj" fmla="val 2870"/>
            </a:avLst>
          </a:prstGeom>
          <a:solidFill>
            <a:srgbClr val="003180"/>
          </a:solidFill>
          <a:ln w="7620">
            <a:solidFill>
              <a:srgbClr val="194A99"/>
            </a:solidFill>
            <a:prstDash val="solid"/>
          </a:ln>
        </p:spPr>
      </p:sp>
      <p:sp>
        <p:nvSpPr>
          <p:cNvPr id="11" name="Shape 7"/>
          <p:cNvSpPr/>
          <p:nvPr/>
        </p:nvSpPr>
        <p:spPr>
          <a:xfrm>
            <a:off x="3451265" y="4182189"/>
            <a:ext cx="496729" cy="496729"/>
          </a:xfrm>
          <a:prstGeom prst="roundRect">
            <a:avLst>
              <a:gd name="adj" fmla="val 18406587"/>
            </a:avLst>
          </a:prstGeom>
          <a:solidFill>
            <a:srgbClr val="609DFF"/>
          </a:solidFill>
        </p:spPr>
      </p:sp>
      <p:pic>
        <p:nvPicPr>
          <p:cNvPr id="12" name="Image 2" descr="preencoded.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3587829" y="4318754"/>
            <a:ext cx="223480" cy="223480"/>
          </a:xfrm>
          <a:prstGeom prst="rect">
            <a:avLst/>
          </a:prstGeom>
        </p:spPr>
      </p:pic>
      <p:sp>
        <p:nvSpPr>
          <p:cNvPr id="13" name="Text 8"/>
          <p:cNvSpPr/>
          <p:nvPr/>
        </p:nvSpPr>
        <p:spPr>
          <a:xfrm>
            <a:off x="3451265" y="4789884"/>
            <a:ext cx="2241471" cy="517208"/>
          </a:xfrm>
          <a:prstGeom prst="rect">
            <a:avLst/>
          </a:prstGeom>
          <a:noFill/>
        </p:spPr>
        <p:txBody>
          <a:bodyPr wrap="square" lIns="0" tIns="0" rIns="0" bIns="0" rtlCol="0" anchor="t"/>
          <a:lstStyle/>
          <a:p>
            <a:pPr marL="0" indent="0" algn="l">
              <a:lnSpc>
                <a:spcPts val="2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AI-Enhanced Capabilities</a:t>
            </a:r>
            <a:endParaRPr lang="en-US" sz="1600" dirty="0"/>
          </a:p>
        </p:txBody>
      </p:sp>
      <p:sp>
        <p:nvSpPr>
          <p:cNvPr id="14" name="Text 9"/>
          <p:cNvSpPr/>
          <p:nvPr/>
        </p:nvSpPr>
        <p:spPr>
          <a:xfrm>
            <a:off x="3451265" y="5373648"/>
            <a:ext cx="2241471" cy="885349"/>
          </a:xfrm>
          <a:prstGeom prst="rect">
            <a:avLst/>
          </a:prstGeom>
          <a:noFill/>
        </p:spPr>
        <p:txBody>
          <a:bodyPr wrap="square" lIns="0" tIns="0" rIns="0" bIns="0" rtlCol="0" anchor="t"/>
          <a:lstStyle/>
          <a:p>
            <a:pPr marL="0" indent="0" algn="l">
              <a:lnSpc>
                <a:spcPts val="1700"/>
              </a:lnSpc>
              <a:buNone/>
            </a:pPr>
            <a:r>
              <a:rPr lang="en-US" sz="13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Agentic AI introduces autonomous agents for dynamic, adaptive responses.</a:t>
            </a:r>
            <a:endParaRPr lang="en-US" sz="1300" dirty="0"/>
          </a:p>
        </p:txBody>
      </p:sp>
      <p:sp>
        <p:nvSpPr>
          <p:cNvPr id="15" name="Shape 10"/>
          <p:cNvSpPr/>
          <p:nvPr/>
        </p:nvSpPr>
        <p:spPr>
          <a:xfrm>
            <a:off x="5976818" y="4182428"/>
            <a:ext cx="2587704" cy="2423041"/>
          </a:xfrm>
          <a:prstGeom prst="roundRect">
            <a:avLst>
              <a:gd name="adj" fmla="val 2870"/>
            </a:avLst>
          </a:prstGeom>
          <a:solidFill>
            <a:srgbClr val="003180"/>
          </a:solidFill>
          <a:ln w="7620">
            <a:solidFill>
              <a:srgbClr val="194A99"/>
            </a:solidFill>
            <a:prstDash val="solid"/>
          </a:ln>
        </p:spPr>
      </p:sp>
      <p:sp>
        <p:nvSpPr>
          <p:cNvPr id="16" name="Shape 11"/>
          <p:cNvSpPr/>
          <p:nvPr/>
        </p:nvSpPr>
        <p:spPr>
          <a:xfrm>
            <a:off x="6149935" y="4182189"/>
            <a:ext cx="496729" cy="496729"/>
          </a:xfrm>
          <a:prstGeom prst="roundRect">
            <a:avLst>
              <a:gd name="adj" fmla="val 18406587"/>
            </a:avLst>
          </a:prstGeom>
          <a:solidFill>
            <a:srgbClr val="609DFF"/>
          </a:solidFill>
        </p:spPr>
      </p:sp>
      <p:pic>
        <p:nvPicPr>
          <p:cNvPr id="17" name="Image 3" descr="preencoded.png"/>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6286500" y="4318754"/>
            <a:ext cx="223480" cy="223480"/>
          </a:xfrm>
          <a:prstGeom prst="rect">
            <a:avLst/>
          </a:prstGeom>
        </p:spPr>
      </p:pic>
      <p:sp>
        <p:nvSpPr>
          <p:cNvPr id="18" name="Text 12"/>
          <p:cNvSpPr/>
          <p:nvPr/>
        </p:nvSpPr>
        <p:spPr>
          <a:xfrm>
            <a:off x="6149935" y="4789884"/>
            <a:ext cx="2069663" cy="258604"/>
          </a:xfrm>
          <a:prstGeom prst="rect">
            <a:avLst/>
          </a:prstGeom>
          <a:noFill/>
        </p:spPr>
        <p:txBody>
          <a:bodyPr wrap="none" lIns="0" tIns="0" rIns="0" bIns="0" rtlCol="0" anchor="t"/>
          <a:lstStyle/>
          <a:p>
            <a:pPr marL="0" indent="0" algn="l">
              <a:lnSpc>
                <a:spcPts val="2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Proactive Approach</a:t>
            </a:r>
            <a:endParaRPr lang="en-US" sz="1600" dirty="0"/>
          </a:p>
        </p:txBody>
      </p:sp>
      <p:sp>
        <p:nvSpPr>
          <p:cNvPr id="19" name="Text 13"/>
          <p:cNvSpPr/>
          <p:nvPr/>
        </p:nvSpPr>
        <p:spPr>
          <a:xfrm>
            <a:off x="6149935" y="5115044"/>
            <a:ext cx="2241471" cy="664012"/>
          </a:xfrm>
          <a:prstGeom prst="rect">
            <a:avLst/>
          </a:prstGeom>
          <a:noFill/>
        </p:spPr>
        <p:txBody>
          <a:bodyPr wrap="square" lIns="0" tIns="0" rIns="0" bIns="0" rtlCol="0" anchor="t"/>
          <a:lstStyle/>
          <a:p>
            <a:pPr marL="0" indent="0" algn="l">
              <a:lnSpc>
                <a:spcPts val="1700"/>
              </a:lnSpc>
              <a:buNone/>
            </a:pPr>
            <a:r>
              <a:rPr lang="en-US" sz="13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Shifting from reactive to predictive and adaptive disaster management.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573411" y="528995"/>
            <a:ext cx="11483578" cy="1144191"/>
          </a:xfrm>
          <a:prstGeom prst="rect">
            <a:avLst/>
          </a:prstGeom>
          <a:noFill/>
        </p:spPr>
        <p:txBody>
          <a:bodyPr wrap="square" lIns="0" tIns="0" rIns="0" bIns="0" rtlCol="0" anchor="t"/>
          <a:lstStyle/>
          <a:p>
            <a:pPr marL="0" indent="0" algn="l">
              <a:lnSpc>
                <a:spcPts val="4500"/>
              </a:lnSpc>
              <a:buNone/>
            </a:pPr>
            <a:r>
              <a:rPr lang="en-US" sz="36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Problem Statement: Challenges in Urban Disaster Management</a:t>
            </a:r>
            <a:endParaRPr lang="en-US" sz="3600" dirty="0"/>
          </a:p>
        </p:txBody>
      </p:sp>
      <p:pic>
        <p:nvPicPr>
          <p:cNvPr id="3" name="Image 0" descr="preencoded.png"/>
          <p:cNvPicPr>
            <a:picLocks noChangeAspect="1"/>
          </p:cNvPicPr>
          <p:nvPr/>
        </p:nvPicPr>
        <p:blipFill>
          <a:blip r:embed="rId1"/>
          <a:stretch>
            <a:fillRect/>
          </a:stretch>
        </p:blipFill>
        <p:spPr>
          <a:xfrm>
            <a:off x="1573411" y="2029420"/>
            <a:ext cx="5518547" cy="5518547"/>
          </a:xfrm>
          <a:prstGeom prst="rect">
            <a:avLst/>
          </a:prstGeom>
        </p:spPr>
      </p:pic>
      <p:sp>
        <p:nvSpPr>
          <p:cNvPr id="4" name="Text 1"/>
          <p:cNvSpPr/>
          <p:nvPr/>
        </p:nvSpPr>
        <p:spPr>
          <a:xfrm>
            <a:off x="7546062" y="1998940"/>
            <a:ext cx="5518547" cy="1275159"/>
          </a:xfrm>
          <a:prstGeom prst="rect">
            <a:avLst/>
          </a:prstGeom>
          <a:noFill/>
        </p:spPr>
        <p:txBody>
          <a:bodyPr wrap="square" lIns="0" tIns="0" rIns="0" bIns="0" rtlCol="0" anchor="t"/>
          <a:lstStyle/>
          <a:p>
            <a:pPr marL="0" indent="0" algn="l">
              <a:lnSpc>
                <a:spcPts val="2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Urban disaster management systems face significant challenges in terms of efficiency and effectiveness. Most systems are reactive, lacking real-time situational awareness and heavily relying on human operators for critical decision-making. This often leads to:</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5" name="Text 2"/>
          <p:cNvSpPr/>
          <p:nvPr/>
        </p:nvSpPr>
        <p:spPr>
          <a:xfrm>
            <a:off x="7546062" y="3844568"/>
            <a:ext cx="5518547" cy="1275428"/>
          </a:xfrm>
          <a:prstGeom prst="rect">
            <a:avLst/>
          </a:prstGeom>
          <a:noFill/>
        </p:spPr>
        <p:txBody>
          <a:bodyPr wrap="square" lIns="0" tIns="0" rIns="0" bIns="0" rtlCol="0" anchor="t"/>
          <a:lstStyle/>
          <a:p>
            <a:pPr marL="342900" indent="-342900" algn="l">
              <a:lnSpc>
                <a:spcPts val="20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Information overload and delayed responses.</a:t>
            </a:r>
            <a:endParaRPr lang="en-US" sz="1600" dirty="0"/>
          </a:p>
          <a:p>
            <a:pPr marL="342900" indent="-342900" algn="l">
              <a:lnSpc>
                <a:spcPts val="20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Poor coordination among emergency services.</a:t>
            </a:r>
            <a:endParaRPr lang="en-US" sz="1600" dirty="0"/>
          </a:p>
          <a:p>
            <a:pPr marL="342900" indent="-342900" algn="l">
              <a:lnSpc>
                <a:spcPts val="20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Lack of learning mechanisms for continuous improvement.</a:t>
            </a:r>
            <a:endParaRPr lang="en-US" sz="1600" dirty="0"/>
          </a:p>
          <a:p>
            <a:pPr marL="342900" indent="-342900" algn="l">
              <a:lnSpc>
                <a:spcPts val="20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Inefficient resource allocation.</a:t>
            </a:r>
            <a:endParaRPr lang="en-US" sz="1600" dirty="0"/>
          </a:p>
          <a:p>
            <a:pPr marL="342900" indent="-342900" algn="l">
              <a:lnSpc>
                <a:spcPts val="20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Limited transparency in decision-making.</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6" name="Text 3"/>
          <p:cNvSpPr/>
          <p:nvPr/>
        </p:nvSpPr>
        <p:spPr>
          <a:xfrm>
            <a:off x="7546062" y="5496789"/>
            <a:ext cx="5518547" cy="510064"/>
          </a:xfrm>
          <a:prstGeom prst="rect">
            <a:avLst/>
          </a:prstGeom>
          <a:noFill/>
        </p:spPr>
        <p:txBody>
          <a:bodyPr wrap="square" lIns="0" tIns="0" rIns="0" bIns="0" rtlCol="0" anchor="t"/>
          <a:lstStyle/>
          <a:p>
            <a:pPr marL="0" indent="0" algn="l">
              <a:lnSpc>
                <a:spcPts val="2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 clear need exists for an intelligent, autonomous, and explainable system.</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171065" y="734695"/>
            <a:ext cx="9952990" cy="889000"/>
          </a:xfrm>
          <a:prstGeom prst="rect">
            <a:avLst/>
          </a:prstGeom>
          <a:noFill/>
        </p:spPr>
        <p:txBody>
          <a:bodyPr wrap="square" lIns="0" tIns="0" rIns="0" bIns="0" rtlCol="0" anchor="t"/>
          <a:lstStyle/>
          <a:p>
            <a:pPr marL="0" indent="0" algn="l">
              <a:lnSpc>
                <a:spcPts val="3500"/>
              </a:lnSpc>
              <a:buNone/>
            </a:pPr>
            <a:r>
              <a:rPr lang="en-US" sz="28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Objectives: Building an Autonomous Response System</a:t>
            </a:r>
            <a:endParaRPr lang="en-US" sz="2800" dirty="0"/>
          </a:p>
        </p:txBody>
      </p:sp>
      <p:sp>
        <p:nvSpPr>
          <p:cNvPr id="4" name="Shape 2"/>
          <p:cNvSpPr/>
          <p:nvPr>
            <p:custDataLst>
              <p:tags r:id="rId1"/>
            </p:custDataLst>
          </p:nvPr>
        </p:nvSpPr>
        <p:spPr>
          <a:xfrm>
            <a:off x="1256877" y="2081248"/>
            <a:ext cx="3588678" cy="1677849"/>
          </a:xfrm>
          <a:prstGeom prst="roundRect">
            <a:avLst>
              <a:gd name="adj" fmla="val 5359"/>
            </a:avLst>
          </a:prstGeom>
          <a:solidFill>
            <a:srgbClr val="09151A">
              <a:alpha val="95000"/>
            </a:srgbClr>
          </a:solidFill>
        </p:spPr>
        <p:txBody>
          <a:bodyPr/>
          <a:p>
            <a:endParaRPr lang="en-GB" altLang="en-US" sz="2400"/>
          </a:p>
        </p:txBody>
      </p:sp>
      <p:sp>
        <p:nvSpPr>
          <p:cNvPr id="5" name="Shape 3"/>
          <p:cNvSpPr/>
          <p:nvPr>
            <p:custDataLst>
              <p:tags r:id="rId2"/>
            </p:custDataLst>
          </p:nvPr>
        </p:nvSpPr>
        <p:spPr>
          <a:xfrm>
            <a:off x="1256877" y="2062515"/>
            <a:ext cx="3588678" cy="74929"/>
          </a:xfrm>
          <a:prstGeom prst="roundRect">
            <a:avLst>
              <a:gd name="adj" fmla="val 98008"/>
            </a:avLst>
          </a:prstGeom>
          <a:solidFill>
            <a:srgbClr val="609DFF"/>
          </a:solidFill>
        </p:spPr>
      </p:sp>
      <p:sp>
        <p:nvSpPr>
          <p:cNvPr id="6" name="Shape 4"/>
          <p:cNvSpPr/>
          <p:nvPr>
            <p:custDataLst>
              <p:tags r:id="rId3"/>
            </p:custDataLst>
          </p:nvPr>
        </p:nvSpPr>
        <p:spPr>
          <a:xfrm>
            <a:off x="2788965" y="1818997"/>
            <a:ext cx="524501" cy="524501"/>
          </a:xfrm>
          <a:prstGeom prst="roundRect">
            <a:avLst>
              <a:gd name="adj" fmla="val 214286"/>
            </a:avLst>
          </a:prstGeom>
          <a:solidFill>
            <a:srgbClr val="609DFF"/>
          </a:solidFill>
        </p:spPr>
      </p:sp>
      <p:sp>
        <p:nvSpPr>
          <p:cNvPr id="7" name="Text 5"/>
          <p:cNvSpPr/>
          <p:nvPr>
            <p:custDataLst>
              <p:tags r:id="rId4"/>
            </p:custDataLst>
          </p:nvPr>
        </p:nvSpPr>
        <p:spPr>
          <a:xfrm>
            <a:off x="2946287" y="1950122"/>
            <a:ext cx="209713" cy="262251"/>
          </a:xfrm>
          <a:prstGeom prst="rect">
            <a:avLst/>
          </a:prstGeom>
          <a:noFill/>
        </p:spPr>
        <p:txBody>
          <a:bodyPr wrap="none" lIns="0" tIns="0" rIns="0" bIns="0" rtlCol="0" anchor="t"/>
          <a:lstStyle/>
          <a:p>
            <a:pPr marL="0" indent="0" algn="l">
              <a:lnSpc>
                <a:spcPts val="1650"/>
              </a:lnSpc>
              <a:buNone/>
            </a:pPr>
            <a:r>
              <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rPr>
              <a:t>1</a:t>
            </a:r>
            <a:endPar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8" name="Text 6"/>
          <p:cNvSpPr/>
          <p:nvPr>
            <p:custDataLst>
              <p:tags r:id="rId5"/>
            </p:custDataLst>
          </p:nvPr>
        </p:nvSpPr>
        <p:spPr>
          <a:xfrm>
            <a:off x="1450346" y="2518235"/>
            <a:ext cx="3201740" cy="546160"/>
          </a:xfrm>
          <a:prstGeom prst="rect">
            <a:avLst/>
          </a:prstGeom>
          <a:noFill/>
        </p:spPr>
        <p:txBody>
          <a:bodyPr wrap="square" lIns="0" tIns="0" rIns="0" bIns="0" rtlCol="0" anchor="t"/>
          <a:lstStyle/>
          <a:p>
            <a:pPr marL="0" indent="0" algn="l">
              <a:lnSpc>
                <a:spcPct val="10000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Develop a Multi-Agent AI Framework</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9" name="Text 7"/>
          <p:cNvSpPr/>
          <p:nvPr>
            <p:custDataLst>
              <p:tags r:id="rId6"/>
            </p:custDataLst>
          </p:nvPr>
        </p:nvSpPr>
        <p:spPr>
          <a:xfrm>
            <a:off x="1450346" y="3124836"/>
            <a:ext cx="3201740" cy="440792"/>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Design autonomous AI agents with specific responsibilities.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0" name="Shape 8"/>
          <p:cNvSpPr/>
          <p:nvPr>
            <p:custDataLst>
              <p:tags r:id="rId7"/>
            </p:custDataLst>
          </p:nvPr>
        </p:nvSpPr>
        <p:spPr>
          <a:xfrm>
            <a:off x="4946241" y="2081248"/>
            <a:ext cx="3588824" cy="1677849"/>
          </a:xfrm>
          <a:prstGeom prst="roundRect">
            <a:avLst>
              <a:gd name="adj" fmla="val 5359"/>
            </a:avLst>
          </a:prstGeom>
          <a:solidFill>
            <a:srgbClr val="09151A">
              <a:alpha val="95000"/>
            </a:srgbClr>
          </a:solidFill>
        </p:spPr>
      </p:sp>
      <p:sp>
        <p:nvSpPr>
          <p:cNvPr id="11" name="Shape 9"/>
          <p:cNvSpPr/>
          <p:nvPr>
            <p:custDataLst>
              <p:tags r:id="rId8"/>
            </p:custDataLst>
          </p:nvPr>
        </p:nvSpPr>
        <p:spPr>
          <a:xfrm>
            <a:off x="4946241" y="2062515"/>
            <a:ext cx="3588824" cy="74929"/>
          </a:xfrm>
          <a:prstGeom prst="roundRect">
            <a:avLst>
              <a:gd name="adj" fmla="val 98008"/>
            </a:avLst>
          </a:prstGeom>
          <a:solidFill>
            <a:srgbClr val="609DFF"/>
          </a:solidFill>
        </p:spPr>
      </p:sp>
      <p:sp>
        <p:nvSpPr>
          <p:cNvPr id="12" name="Shape 10"/>
          <p:cNvSpPr/>
          <p:nvPr>
            <p:custDataLst>
              <p:tags r:id="rId9"/>
            </p:custDataLst>
          </p:nvPr>
        </p:nvSpPr>
        <p:spPr>
          <a:xfrm>
            <a:off x="6478328" y="1818997"/>
            <a:ext cx="524501" cy="524501"/>
          </a:xfrm>
          <a:prstGeom prst="roundRect">
            <a:avLst>
              <a:gd name="adj" fmla="val 214286"/>
            </a:avLst>
          </a:prstGeom>
          <a:solidFill>
            <a:srgbClr val="609DFF"/>
          </a:solidFill>
        </p:spPr>
      </p:sp>
      <p:sp>
        <p:nvSpPr>
          <p:cNvPr id="13" name="Text 11"/>
          <p:cNvSpPr/>
          <p:nvPr>
            <p:custDataLst>
              <p:tags r:id="rId10"/>
            </p:custDataLst>
          </p:nvPr>
        </p:nvSpPr>
        <p:spPr>
          <a:xfrm>
            <a:off x="6635649" y="1950122"/>
            <a:ext cx="209713" cy="262251"/>
          </a:xfrm>
          <a:prstGeom prst="rect">
            <a:avLst/>
          </a:prstGeom>
          <a:noFill/>
        </p:spPr>
        <p:txBody>
          <a:bodyPr wrap="none" lIns="0" tIns="0" rIns="0" bIns="0" rtlCol="0" anchor="t"/>
          <a:lstStyle/>
          <a:p>
            <a:pPr marL="0" indent="0" algn="l">
              <a:lnSpc>
                <a:spcPts val="1650"/>
              </a:lnSpc>
              <a:buNone/>
            </a:pPr>
            <a:r>
              <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rPr>
              <a:t>2</a:t>
            </a:r>
            <a:endPar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4" name="Text 12"/>
          <p:cNvSpPr/>
          <p:nvPr>
            <p:custDataLst>
              <p:tags r:id="rId11"/>
            </p:custDataLst>
          </p:nvPr>
        </p:nvSpPr>
        <p:spPr>
          <a:xfrm>
            <a:off x="5139708" y="2518235"/>
            <a:ext cx="3201887" cy="546160"/>
          </a:xfrm>
          <a:prstGeom prst="rect">
            <a:avLst/>
          </a:prstGeom>
          <a:noFill/>
        </p:spPr>
        <p:txBody>
          <a:bodyPr wrap="square" lIns="0" tIns="0" rIns="0" bIns="0" rtlCol="0" anchor="t"/>
          <a:lstStyle/>
          <a:p>
            <a:pPr marL="0" indent="0" algn="l">
              <a:lnSpc>
                <a:spcPct val="10000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Predict Disasters with Machine Learning</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5" name="Text 13"/>
          <p:cNvSpPr/>
          <p:nvPr>
            <p:custDataLst>
              <p:tags r:id="rId12"/>
            </p:custDataLst>
          </p:nvPr>
        </p:nvSpPr>
        <p:spPr>
          <a:xfrm>
            <a:off x="5139708" y="3124836"/>
            <a:ext cx="3201887" cy="440792"/>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Analyze historical and real-time data for early warnings.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6" name="Shape 14"/>
          <p:cNvSpPr/>
          <p:nvPr>
            <p:custDataLst>
              <p:tags r:id="rId13"/>
            </p:custDataLst>
          </p:nvPr>
        </p:nvSpPr>
        <p:spPr>
          <a:xfrm>
            <a:off x="8635749" y="2081248"/>
            <a:ext cx="3588824" cy="1677849"/>
          </a:xfrm>
          <a:prstGeom prst="roundRect">
            <a:avLst>
              <a:gd name="adj" fmla="val 5359"/>
            </a:avLst>
          </a:prstGeom>
          <a:solidFill>
            <a:srgbClr val="09151A">
              <a:alpha val="95000"/>
            </a:srgbClr>
          </a:solidFill>
        </p:spPr>
      </p:sp>
      <p:sp>
        <p:nvSpPr>
          <p:cNvPr id="17" name="Shape 15"/>
          <p:cNvSpPr/>
          <p:nvPr>
            <p:custDataLst>
              <p:tags r:id="rId14"/>
            </p:custDataLst>
          </p:nvPr>
        </p:nvSpPr>
        <p:spPr>
          <a:xfrm>
            <a:off x="8635749" y="2062515"/>
            <a:ext cx="3588824" cy="74929"/>
          </a:xfrm>
          <a:prstGeom prst="roundRect">
            <a:avLst>
              <a:gd name="adj" fmla="val 98008"/>
            </a:avLst>
          </a:prstGeom>
          <a:solidFill>
            <a:srgbClr val="609DFF"/>
          </a:solidFill>
        </p:spPr>
      </p:sp>
      <p:sp>
        <p:nvSpPr>
          <p:cNvPr id="18" name="Shape 16"/>
          <p:cNvSpPr/>
          <p:nvPr>
            <p:custDataLst>
              <p:tags r:id="rId15"/>
            </p:custDataLst>
          </p:nvPr>
        </p:nvSpPr>
        <p:spPr>
          <a:xfrm>
            <a:off x="10167838" y="1818997"/>
            <a:ext cx="524501" cy="524501"/>
          </a:xfrm>
          <a:prstGeom prst="roundRect">
            <a:avLst>
              <a:gd name="adj" fmla="val 214286"/>
            </a:avLst>
          </a:prstGeom>
          <a:solidFill>
            <a:srgbClr val="609DFF"/>
          </a:solidFill>
        </p:spPr>
      </p:sp>
      <p:sp>
        <p:nvSpPr>
          <p:cNvPr id="19" name="Text 17"/>
          <p:cNvSpPr/>
          <p:nvPr>
            <p:custDataLst>
              <p:tags r:id="rId16"/>
            </p:custDataLst>
          </p:nvPr>
        </p:nvSpPr>
        <p:spPr>
          <a:xfrm>
            <a:off x="10325159" y="1950122"/>
            <a:ext cx="209713" cy="262251"/>
          </a:xfrm>
          <a:prstGeom prst="rect">
            <a:avLst/>
          </a:prstGeom>
          <a:noFill/>
        </p:spPr>
        <p:txBody>
          <a:bodyPr wrap="none" lIns="0" tIns="0" rIns="0" bIns="0" rtlCol="0" anchor="t"/>
          <a:lstStyle/>
          <a:p>
            <a:pPr marL="0" indent="0" algn="l">
              <a:lnSpc>
                <a:spcPts val="1650"/>
              </a:lnSpc>
              <a:buNone/>
            </a:pPr>
            <a:r>
              <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rPr>
              <a:t>3</a:t>
            </a:r>
            <a:endPar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0" name="Text 18"/>
          <p:cNvSpPr/>
          <p:nvPr>
            <p:custDataLst>
              <p:tags r:id="rId17"/>
            </p:custDataLst>
          </p:nvPr>
        </p:nvSpPr>
        <p:spPr>
          <a:xfrm>
            <a:off x="8829218" y="2518235"/>
            <a:ext cx="3201887" cy="546160"/>
          </a:xfrm>
          <a:prstGeom prst="rect">
            <a:avLst/>
          </a:prstGeom>
          <a:noFill/>
        </p:spPr>
        <p:txBody>
          <a:bodyPr wrap="square" lIns="0" tIns="0" rIns="0" bIns="0" rtlCol="0" anchor="t"/>
          <a:lstStyle/>
          <a:p>
            <a:pPr marL="0" indent="0" algn="l">
              <a:lnSpc>
                <a:spcPct val="10000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Assess Real-time Situations (NLP, CV)</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1" name="Text 19"/>
          <p:cNvSpPr/>
          <p:nvPr>
            <p:custDataLst>
              <p:tags r:id="rId18"/>
            </p:custDataLst>
          </p:nvPr>
        </p:nvSpPr>
        <p:spPr>
          <a:xfrm>
            <a:off x="8829218" y="3124836"/>
            <a:ext cx="3201887" cy="440792"/>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Evaluate emergency messages and visual data for urgency.</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2" name="Shape 20"/>
          <p:cNvSpPr/>
          <p:nvPr>
            <p:custDataLst>
              <p:tags r:id="rId19"/>
            </p:custDataLst>
          </p:nvPr>
        </p:nvSpPr>
        <p:spPr>
          <a:xfrm>
            <a:off x="1256877" y="4122032"/>
            <a:ext cx="3588678" cy="1677849"/>
          </a:xfrm>
          <a:prstGeom prst="roundRect">
            <a:avLst>
              <a:gd name="adj" fmla="val 5359"/>
            </a:avLst>
          </a:prstGeom>
          <a:solidFill>
            <a:srgbClr val="09151A">
              <a:alpha val="95000"/>
            </a:srgbClr>
          </a:solidFill>
        </p:spPr>
      </p:sp>
      <p:sp>
        <p:nvSpPr>
          <p:cNvPr id="23" name="Shape 21"/>
          <p:cNvSpPr/>
          <p:nvPr>
            <p:custDataLst>
              <p:tags r:id="rId20"/>
            </p:custDataLst>
          </p:nvPr>
        </p:nvSpPr>
        <p:spPr>
          <a:xfrm>
            <a:off x="1256877" y="4103300"/>
            <a:ext cx="3588678" cy="74929"/>
          </a:xfrm>
          <a:prstGeom prst="roundRect">
            <a:avLst>
              <a:gd name="adj" fmla="val 98008"/>
            </a:avLst>
          </a:prstGeom>
          <a:solidFill>
            <a:srgbClr val="609DFF"/>
          </a:solidFill>
        </p:spPr>
      </p:sp>
      <p:sp>
        <p:nvSpPr>
          <p:cNvPr id="24" name="Shape 22"/>
          <p:cNvSpPr/>
          <p:nvPr>
            <p:custDataLst>
              <p:tags r:id="rId21"/>
            </p:custDataLst>
          </p:nvPr>
        </p:nvSpPr>
        <p:spPr>
          <a:xfrm>
            <a:off x="2788965" y="3859782"/>
            <a:ext cx="524501" cy="524501"/>
          </a:xfrm>
          <a:prstGeom prst="roundRect">
            <a:avLst>
              <a:gd name="adj" fmla="val 214286"/>
            </a:avLst>
          </a:prstGeom>
          <a:solidFill>
            <a:srgbClr val="609DFF"/>
          </a:solidFill>
        </p:spPr>
      </p:sp>
      <p:sp>
        <p:nvSpPr>
          <p:cNvPr id="25" name="Text 23"/>
          <p:cNvSpPr/>
          <p:nvPr>
            <p:custDataLst>
              <p:tags r:id="rId22"/>
            </p:custDataLst>
          </p:nvPr>
        </p:nvSpPr>
        <p:spPr>
          <a:xfrm>
            <a:off x="2946287" y="3990907"/>
            <a:ext cx="209713" cy="262251"/>
          </a:xfrm>
          <a:prstGeom prst="rect">
            <a:avLst/>
          </a:prstGeom>
          <a:noFill/>
        </p:spPr>
        <p:txBody>
          <a:bodyPr wrap="none" lIns="0" tIns="0" rIns="0" bIns="0" rtlCol="0" anchor="t"/>
          <a:lstStyle/>
          <a:p>
            <a:pPr marL="0" indent="0" algn="l">
              <a:lnSpc>
                <a:spcPct val="100000"/>
              </a:lnSpc>
              <a:buNone/>
            </a:pPr>
            <a:r>
              <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rPr>
              <a:t>4</a:t>
            </a:r>
            <a:endPar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6" name="Text 24"/>
          <p:cNvSpPr/>
          <p:nvPr>
            <p:custDataLst>
              <p:tags r:id="rId23"/>
            </p:custDataLst>
          </p:nvPr>
        </p:nvSpPr>
        <p:spPr>
          <a:xfrm>
            <a:off x="1450346" y="4559018"/>
            <a:ext cx="3201740" cy="546160"/>
          </a:xfrm>
          <a:prstGeom prst="rect">
            <a:avLst/>
          </a:prstGeom>
          <a:noFill/>
        </p:spPr>
        <p:txBody>
          <a:bodyPr wrap="square" lIns="0" tIns="0" rIns="0" bIns="0" rtlCol="0" anchor="t"/>
          <a:lstStyle/>
          <a:p>
            <a:pPr marL="0" indent="0" algn="l">
              <a:lnSpc>
                <a:spcPct val="10000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Optimize Resource Allocation (RL)</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7" name="Text 25"/>
          <p:cNvSpPr/>
          <p:nvPr>
            <p:custDataLst>
              <p:tags r:id="rId24"/>
            </p:custDataLst>
          </p:nvPr>
        </p:nvSpPr>
        <p:spPr>
          <a:xfrm>
            <a:off x="1450346" y="5165619"/>
            <a:ext cx="3201740" cy="440792"/>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Minimize response time and maximize efficiency.</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8" name="Shape 26"/>
          <p:cNvSpPr/>
          <p:nvPr>
            <p:custDataLst>
              <p:tags r:id="rId25"/>
            </p:custDataLst>
          </p:nvPr>
        </p:nvSpPr>
        <p:spPr>
          <a:xfrm>
            <a:off x="4946241" y="4122032"/>
            <a:ext cx="3588824" cy="1677849"/>
          </a:xfrm>
          <a:prstGeom prst="roundRect">
            <a:avLst>
              <a:gd name="adj" fmla="val 5359"/>
            </a:avLst>
          </a:prstGeom>
          <a:solidFill>
            <a:srgbClr val="09151A">
              <a:alpha val="95000"/>
            </a:srgbClr>
          </a:solidFill>
        </p:spPr>
      </p:sp>
      <p:sp>
        <p:nvSpPr>
          <p:cNvPr id="29" name="Shape 27"/>
          <p:cNvSpPr/>
          <p:nvPr>
            <p:custDataLst>
              <p:tags r:id="rId26"/>
            </p:custDataLst>
          </p:nvPr>
        </p:nvSpPr>
        <p:spPr>
          <a:xfrm>
            <a:off x="4946241" y="4103300"/>
            <a:ext cx="3588824" cy="74929"/>
          </a:xfrm>
          <a:prstGeom prst="roundRect">
            <a:avLst>
              <a:gd name="adj" fmla="val 98008"/>
            </a:avLst>
          </a:prstGeom>
          <a:solidFill>
            <a:srgbClr val="609DFF"/>
          </a:solidFill>
        </p:spPr>
      </p:sp>
      <p:sp>
        <p:nvSpPr>
          <p:cNvPr id="30" name="Shape 28"/>
          <p:cNvSpPr/>
          <p:nvPr>
            <p:custDataLst>
              <p:tags r:id="rId27"/>
            </p:custDataLst>
          </p:nvPr>
        </p:nvSpPr>
        <p:spPr>
          <a:xfrm>
            <a:off x="6478328" y="3859782"/>
            <a:ext cx="524501" cy="524501"/>
          </a:xfrm>
          <a:prstGeom prst="roundRect">
            <a:avLst>
              <a:gd name="adj" fmla="val 214286"/>
            </a:avLst>
          </a:prstGeom>
          <a:solidFill>
            <a:srgbClr val="609DFF"/>
          </a:solidFill>
        </p:spPr>
      </p:sp>
      <p:sp>
        <p:nvSpPr>
          <p:cNvPr id="31" name="Text 29"/>
          <p:cNvSpPr/>
          <p:nvPr>
            <p:custDataLst>
              <p:tags r:id="rId28"/>
            </p:custDataLst>
          </p:nvPr>
        </p:nvSpPr>
        <p:spPr>
          <a:xfrm>
            <a:off x="6635649" y="3990907"/>
            <a:ext cx="209713" cy="262251"/>
          </a:xfrm>
          <a:prstGeom prst="rect">
            <a:avLst/>
          </a:prstGeom>
          <a:noFill/>
        </p:spPr>
        <p:txBody>
          <a:bodyPr wrap="none" lIns="0" tIns="0" rIns="0" bIns="0" rtlCol="0" anchor="t"/>
          <a:lstStyle/>
          <a:p>
            <a:pPr marL="0" indent="0" algn="l">
              <a:lnSpc>
                <a:spcPct val="100000"/>
              </a:lnSpc>
              <a:buNone/>
            </a:pPr>
            <a:r>
              <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rPr>
              <a:t>5</a:t>
            </a:r>
            <a:endPar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32" name="Text 30"/>
          <p:cNvSpPr/>
          <p:nvPr>
            <p:custDataLst>
              <p:tags r:id="rId29"/>
            </p:custDataLst>
          </p:nvPr>
        </p:nvSpPr>
        <p:spPr>
          <a:xfrm>
            <a:off x="5139708" y="4559018"/>
            <a:ext cx="3201887" cy="546160"/>
          </a:xfrm>
          <a:prstGeom prst="rect">
            <a:avLst/>
          </a:prstGeom>
          <a:noFill/>
        </p:spPr>
        <p:txBody>
          <a:bodyPr wrap="square" lIns="0" tIns="0" rIns="0" bIns="0" rtlCol="0" anchor="t"/>
          <a:lstStyle/>
          <a:p>
            <a:pPr marL="0" indent="0" algn="l">
              <a:lnSpc>
                <a:spcPct val="10000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Provide Real-time Communication</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33" name="Text 31"/>
          <p:cNvSpPr/>
          <p:nvPr>
            <p:custDataLst>
              <p:tags r:id="rId30"/>
            </p:custDataLst>
          </p:nvPr>
        </p:nvSpPr>
        <p:spPr>
          <a:xfrm>
            <a:off x="5139708" y="5165619"/>
            <a:ext cx="3201887" cy="440792"/>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Automated alerts and coordination for all stakeholders.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34" name="Shape 32"/>
          <p:cNvSpPr/>
          <p:nvPr>
            <p:custDataLst>
              <p:tags r:id="rId31"/>
            </p:custDataLst>
          </p:nvPr>
        </p:nvSpPr>
        <p:spPr>
          <a:xfrm>
            <a:off x="8635749" y="4122032"/>
            <a:ext cx="3588824" cy="1677849"/>
          </a:xfrm>
          <a:prstGeom prst="roundRect">
            <a:avLst>
              <a:gd name="adj" fmla="val 5359"/>
            </a:avLst>
          </a:prstGeom>
          <a:solidFill>
            <a:srgbClr val="09151A">
              <a:alpha val="95000"/>
            </a:srgbClr>
          </a:solidFill>
        </p:spPr>
      </p:sp>
      <p:sp>
        <p:nvSpPr>
          <p:cNvPr id="35" name="Shape 33"/>
          <p:cNvSpPr/>
          <p:nvPr>
            <p:custDataLst>
              <p:tags r:id="rId32"/>
            </p:custDataLst>
          </p:nvPr>
        </p:nvSpPr>
        <p:spPr>
          <a:xfrm>
            <a:off x="8635749" y="4103300"/>
            <a:ext cx="3588824" cy="74929"/>
          </a:xfrm>
          <a:prstGeom prst="roundRect">
            <a:avLst>
              <a:gd name="adj" fmla="val 98008"/>
            </a:avLst>
          </a:prstGeom>
          <a:solidFill>
            <a:srgbClr val="609DFF"/>
          </a:solidFill>
        </p:spPr>
      </p:sp>
      <p:sp>
        <p:nvSpPr>
          <p:cNvPr id="36" name="Shape 34"/>
          <p:cNvSpPr/>
          <p:nvPr>
            <p:custDataLst>
              <p:tags r:id="rId33"/>
            </p:custDataLst>
          </p:nvPr>
        </p:nvSpPr>
        <p:spPr>
          <a:xfrm>
            <a:off x="10167838" y="3859782"/>
            <a:ext cx="524501" cy="524501"/>
          </a:xfrm>
          <a:prstGeom prst="roundRect">
            <a:avLst>
              <a:gd name="adj" fmla="val 214286"/>
            </a:avLst>
          </a:prstGeom>
          <a:solidFill>
            <a:srgbClr val="609DFF"/>
          </a:solidFill>
        </p:spPr>
      </p:sp>
      <p:sp>
        <p:nvSpPr>
          <p:cNvPr id="37" name="Text 35"/>
          <p:cNvSpPr/>
          <p:nvPr>
            <p:custDataLst>
              <p:tags r:id="rId34"/>
            </p:custDataLst>
          </p:nvPr>
        </p:nvSpPr>
        <p:spPr>
          <a:xfrm>
            <a:off x="10325159" y="3990907"/>
            <a:ext cx="209713" cy="262251"/>
          </a:xfrm>
          <a:prstGeom prst="rect">
            <a:avLst/>
          </a:prstGeom>
          <a:noFill/>
        </p:spPr>
        <p:txBody>
          <a:bodyPr wrap="none" lIns="0" tIns="0" rIns="0" bIns="0" rtlCol="0" anchor="t"/>
          <a:lstStyle/>
          <a:p>
            <a:pPr marL="0" indent="0" algn="l">
              <a:lnSpc>
                <a:spcPct val="100000"/>
              </a:lnSpc>
              <a:buNone/>
            </a:pPr>
            <a:r>
              <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rPr>
              <a:t>6</a:t>
            </a:r>
            <a:endPar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38" name="Text 36"/>
          <p:cNvSpPr/>
          <p:nvPr>
            <p:custDataLst>
              <p:tags r:id="rId35"/>
            </p:custDataLst>
          </p:nvPr>
        </p:nvSpPr>
        <p:spPr>
          <a:xfrm>
            <a:off x="8829218" y="4559018"/>
            <a:ext cx="2801486" cy="273081"/>
          </a:xfrm>
          <a:prstGeom prst="rect">
            <a:avLst/>
          </a:prstGeom>
          <a:noFill/>
        </p:spPr>
        <p:txBody>
          <a:bodyPr wrap="none" lIns="0" tIns="0" rIns="0" bIns="0" rtlCol="0" anchor="t"/>
          <a:lstStyle/>
          <a:p>
            <a:pPr marL="0" indent="0" algn="l">
              <a:lnSpc>
                <a:spcPct val="10000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Incorporate Explainable AI</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39" name="Text 37"/>
          <p:cNvSpPr/>
          <p:nvPr>
            <p:custDataLst>
              <p:tags r:id="rId36"/>
            </p:custDataLst>
          </p:nvPr>
        </p:nvSpPr>
        <p:spPr>
          <a:xfrm>
            <a:off x="8829218" y="4892540"/>
            <a:ext cx="3201887" cy="440792"/>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Ensure transparency and accountability in decisions.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40" name="Shape 38"/>
          <p:cNvSpPr/>
          <p:nvPr>
            <p:custDataLst>
              <p:tags r:id="rId37"/>
            </p:custDataLst>
          </p:nvPr>
        </p:nvSpPr>
        <p:spPr>
          <a:xfrm>
            <a:off x="1256877" y="6162816"/>
            <a:ext cx="10967697" cy="1184372"/>
          </a:xfrm>
          <a:prstGeom prst="roundRect">
            <a:avLst>
              <a:gd name="adj" fmla="val 7592"/>
            </a:avLst>
          </a:prstGeom>
          <a:solidFill>
            <a:srgbClr val="09151A">
              <a:alpha val="95000"/>
            </a:srgbClr>
          </a:solidFill>
        </p:spPr>
      </p:sp>
      <p:sp>
        <p:nvSpPr>
          <p:cNvPr id="41" name="Shape 39"/>
          <p:cNvSpPr/>
          <p:nvPr>
            <p:custDataLst>
              <p:tags r:id="rId38"/>
            </p:custDataLst>
          </p:nvPr>
        </p:nvSpPr>
        <p:spPr>
          <a:xfrm>
            <a:off x="1256877" y="6144084"/>
            <a:ext cx="10967697" cy="74929"/>
          </a:xfrm>
          <a:prstGeom prst="roundRect">
            <a:avLst>
              <a:gd name="adj" fmla="val 98008"/>
            </a:avLst>
          </a:prstGeom>
          <a:solidFill>
            <a:srgbClr val="609DFF"/>
          </a:solidFill>
        </p:spPr>
      </p:sp>
      <p:sp>
        <p:nvSpPr>
          <p:cNvPr id="42" name="Shape 40"/>
          <p:cNvSpPr/>
          <p:nvPr>
            <p:custDataLst>
              <p:tags r:id="rId39"/>
            </p:custDataLst>
          </p:nvPr>
        </p:nvSpPr>
        <p:spPr>
          <a:xfrm>
            <a:off x="6478475" y="5900565"/>
            <a:ext cx="524501" cy="524501"/>
          </a:xfrm>
          <a:prstGeom prst="roundRect">
            <a:avLst>
              <a:gd name="adj" fmla="val 214286"/>
            </a:avLst>
          </a:prstGeom>
          <a:solidFill>
            <a:srgbClr val="609DFF"/>
          </a:solidFill>
        </p:spPr>
      </p:sp>
      <p:sp>
        <p:nvSpPr>
          <p:cNvPr id="43" name="Text 41"/>
          <p:cNvSpPr/>
          <p:nvPr>
            <p:custDataLst>
              <p:tags r:id="rId40"/>
            </p:custDataLst>
          </p:nvPr>
        </p:nvSpPr>
        <p:spPr>
          <a:xfrm>
            <a:off x="6635795" y="6031691"/>
            <a:ext cx="209713" cy="262251"/>
          </a:xfrm>
          <a:prstGeom prst="rect">
            <a:avLst/>
          </a:prstGeom>
          <a:noFill/>
        </p:spPr>
        <p:txBody>
          <a:bodyPr wrap="none" lIns="0" tIns="0" rIns="0" bIns="0" rtlCol="0" anchor="t"/>
          <a:lstStyle/>
          <a:p>
            <a:pPr marL="0" indent="0" algn="l">
              <a:lnSpc>
                <a:spcPts val="1650"/>
              </a:lnSpc>
              <a:buNone/>
            </a:pPr>
            <a:r>
              <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rPr>
              <a:t>7</a:t>
            </a:r>
            <a:endParaRPr lang="en-US" sz="1600" dirty="0">
              <a:solidFill>
                <a:srgbClr val="000000"/>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44" name="Text 42"/>
          <p:cNvSpPr/>
          <p:nvPr>
            <p:custDataLst>
              <p:tags r:id="rId41"/>
            </p:custDataLst>
          </p:nvPr>
        </p:nvSpPr>
        <p:spPr>
          <a:xfrm>
            <a:off x="1450346" y="6599803"/>
            <a:ext cx="2983686" cy="273081"/>
          </a:xfrm>
          <a:prstGeom prst="rect">
            <a:avLst/>
          </a:prstGeom>
          <a:noFill/>
        </p:spPr>
        <p:txBody>
          <a:bodyPr wrap="none" lIns="0" tIns="0" rIns="0" bIns="0" rtlCol="0" anchor="t"/>
          <a:lstStyle/>
          <a:p>
            <a:pPr marL="0" indent="0" algn="l">
              <a:lnSpc>
                <a:spcPts val="17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Enable Continuous Learning</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45" name="Text 43"/>
          <p:cNvSpPr/>
          <p:nvPr>
            <p:custDataLst>
              <p:tags r:id="rId42"/>
            </p:custDataLst>
          </p:nvPr>
        </p:nvSpPr>
        <p:spPr>
          <a:xfrm>
            <a:off x="1450346" y="6933323"/>
            <a:ext cx="10580760" cy="220396"/>
          </a:xfrm>
          <a:prstGeom prst="rect">
            <a:avLst/>
          </a:prstGeom>
          <a:noFill/>
        </p:spPr>
        <p:txBody>
          <a:bodyPr wrap="none" lIns="0" tIns="0" rIns="0" bIns="0" rtlCol="0" anchor="t"/>
          <a:lstStyle/>
          <a:p>
            <a:pPr marL="0" indent="0" algn="l">
              <a:lnSpc>
                <a:spcPts val="14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Post-disaster analysis for system improvement.</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118836" y="1026597"/>
            <a:ext cx="10105073" cy="517684"/>
          </a:xfrm>
          <a:prstGeom prst="rect">
            <a:avLst/>
          </a:prstGeom>
          <a:noFill/>
        </p:spPr>
        <p:txBody>
          <a:bodyPr wrap="none" lIns="0" tIns="0" rIns="0" bIns="0" rtlCol="0" anchor="t"/>
          <a:lstStyle/>
          <a:p>
            <a:pPr marL="0" indent="0" algn="l">
              <a:lnSpc>
                <a:spcPts val="4050"/>
              </a:lnSpc>
              <a:buNone/>
            </a:pPr>
            <a:r>
              <a:rPr lang="en-US" sz="32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Scope of the Project: AGENT-RESCUE's Capabilities</a:t>
            </a:r>
            <a:endParaRPr lang="en-US" sz="3250" dirty="0"/>
          </a:p>
        </p:txBody>
      </p:sp>
      <p:sp>
        <p:nvSpPr>
          <p:cNvPr id="3" name="Text 1"/>
          <p:cNvSpPr/>
          <p:nvPr/>
        </p:nvSpPr>
        <p:spPr>
          <a:xfrm>
            <a:off x="2118836" y="1981279"/>
            <a:ext cx="5534025" cy="886301"/>
          </a:xfrm>
          <a:prstGeom prst="rect">
            <a:avLst/>
          </a:prstGeom>
          <a:noFill/>
        </p:spPr>
        <p:txBody>
          <a:bodyPr wrap="square" lIns="0" tIns="0" rIns="0" bIns="0" rtlCol="0" anchor="t"/>
          <a:lstStyle/>
          <a:p>
            <a:pPr marL="0" indent="0" algn="l">
              <a:lnSpc>
                <a:spcPct val="10000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This project focuses on the design, development, and evaluation of an intelligent disaster response system tailored for urban emergency management. It handles various disaster types, providing real-time monitoring, intelligent decision-making, and coordinated response.</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4" name="Shape 2"/>
          <p:cNvSpPr/>
          <p:nvPr>
            <p:custDataLst>
              <p:tags r:id="rId1"/>
            </p:custDataLst>
          </p:nvPr>
        </p:nvSpPr>
        <p:spPr>
          <a:xfrm>
            <a:off x="2141696" y="3922236"/>
            <a:ext cx="662702" cy="994053"/>
          </a:xfrm>
          <a:prstGeom prst="roundRect">
            <a:avLst>
              <a:gd name="adj" fmla="val 360009"/>
            </a:avLst>
          </a:prstGeom>
          <a:solidFill>
            <a:srgbClr val="003180"/>
          </a:solidFill>
          <a:ln w="7620">
            <a:solidFill>
              <a:srgbClr val="194A99"/>
            </a:solidFill>
            <a:prstDash val="solid"/>
          </a:ln>
        </p:spPr>
      </p:sp>
      <p:pic>
        <p:nvPicPr>
          <p:cNvPr id="5" name="Image 0" descr="preencoded.png"/>
          <p:cNvPicPr>
            <a:picLocks noChangeAspect="1"/>
          </p:cNvPicPr>
          <p:nvPr>
            <p:custDataLst>
              <p:tags r:id="rId2"/>
            </p:custDataLst>
          </p:nvPr>
        </p:nvPicPr>
        <p:blipFill>
          <a:blip r:embed="rId3">
            <a:extLst>
              <a:ext uri="{96DAC541-7B7A-43D3-8B79-37D633B846F1}">
                <asvg:svgBlip xmlns:asvg="http://schemas.microsoft.com/office/drawing/2016/SVG/main" r:embed="rId4"/>
              </a:ext>
            </a:extLst>
          </a:blip>
          <a:stretch>
            <a:fillRect/>
          </a:stretch>
        </p:blipFill>
        <p:spPr>
          <a:xfrm>
            <a:off x="2348746" y="4295021"/>
            <a:ext cx="248483" cy="248483"/>
          </a:xfrm>
          <a:prstGeom prst="rect">
            <a:avLst/>
          </a:prstGeom>
        </p:spPr>
      </p:pic>
      <p:sp>
        <p:nvSpPr>
          <p:cNvPr id="6" name="Text 3"/>
          <p:cNvSpPr/>
          <p:nvPr>
            <p:custDataLst>
              <p:tags r:id="rId5"/>
            </p:custDataLst>
          </p:nvPr>
        </p:nvSpPr>
        <p:spPr>
          <a:xfrm>
            <a:off x="2915603" y="4087852"/>
            <a:ext cx="2298978" cy="258723"/>
          </a:xfrm>
          <a:prstGeom prst="rect">
            <a:avLst/>
          </a:prstGeom>
          <a:noFill/>
        </p:spPr>
        <p:txBody>
          <a:bodyPr wrap="none" lIns="0" tIns="0" rIns="0" bIns="0" rtlCol="0" anchor="t"/>
          <a:lstStyle/>
          <a:p>
            <a:pPr marL="0" indent="0" algn="l">
              <a:lnSpc>
                <a:spcPts val="2000"/>
              </a:lnSpc>
              <a:buNone/>
            </a:pPr>
            <a:r>
              <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Full-Stack Architecture</a:t>
            </a:r>
            <a:endPar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7" name="Text 4"/>
          <p:cNvSpPr/>
          <p:nvPr>
            <p:custDataLst>
              <p:tags r:id="rId6"/>
            </p:custDataLst>
          </p:nvPr>
        </p:nvSpPr>
        <p:spPr>
          <a:xfrm>
            <a:off x="2915603" y="4457779"/>
            <a:ext cx="4760119" cy="221575"/>
          </a:xfrm>
          <a:prstGeom prst="rect">
            <a:avLst/>
          </a:prstGeom>
          <a:noFill/>
        </p:spPr>
        <p:txBody>
          <a:bodyPr wrap="none" lIns="0" tIns="0" rIns="0" bIns="0" rtlCol="0" anchor="t"/>
          <a:lstStyle/>
          <a:p>
            <a:pPr marL="0" indent="0" algn="l">
              <a:lnSpc>
                <a:spcPts val="17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Web dashboard for admins, interactive citizen interface.</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8" name="Shape 5"/>
          <p:cNvSpPr/>
          <p:nvPr>
            <p:custDataLst>
              <p:tags r:id="rId7"/>
            </p:custDataLst>
          </p:nvPr>
        </p:nvSpPr>
        <p:spPr>
          <a:xfrm>
            <a:off x="2141696" y="5027493"/>
            <a:ext cx="662702" cy="1144310"/>
          </a:xfrm>
          <a:prstGeom prst="roundRect">
            <a:avLst>
              <a:gd name="adj" fmla="val 360009"/>
            </a:avLst>
          </a:prstGeom>
          <a:solidFill>
            <a:srgbClr val="003180"/>
          </a:solidFill>
          <a:ln w="7620">
            <a:solidFill>
              <a:srgbClr val="194A99"/>
            </a:solidFill>
            <a:prstDash val="solid"/>
          </a:ln>
        </p:spPr>
      </p:sp>
      <p:pic>
        <p:nvPicPr>
          <p:cNvPr id="9" name="Image 1" descr="preencoded.png"/>
          <p:cNvPicPr>
            <a:picLocks noChangeAspect="1"/>
          </p:cNvPicPr>
          <p:nvPr>
            <p:custDataLst>
              <p:tags r:id="rId8"/>
            </p:custDataLst>
          </p:nvPr>
        </p:nvPicPr>
        <p:blipFill>
          <a:blip r:embed="rId3">
            <a:extLst>
              <a:ext uri="{96DAC541-7B7A-43D3-8B79-37D633B846F1}">
                <asvg:svgBlip xmlns:asvg="http://schemas.microsoft.com/office/drawing/2016/SVG/main" r:embed="rId9"/>
              </a:ext>
            </a:extLst>
          </a:blip>
          <a:stretch>
            <a:fillRect/>
          </a:stretch>
        </p:blipFill>
        <p:spPr>
          <a:xfrm>
            <a:off x="2348746" y="5475407"/>
            <a:ext cx="248483" cy="248483"/>
          </a:xfrm>
          <a:prstGeom prst="rect">
            <a:avLst/>
          </a:prstGeom>
        </p:spPr>
      </p:pic>
      <p:sp>
        <p:nvSpPr>
          <p:cNvPr id="10" name="Text 6"/>
          <p:cNvSpPr/>
          <p:nvPr>
            <p:custDataLst>
              <p:tags r:id="rId10"/>
            </p:custDataLst>
          </p:nvPr>
        </p:nvSpPr>
        <p:spPr>
          <a:xfrm>
            <a:off x="2915603" y="5193109"/>
            <a:ext cx="2328505" cy="258723"/>
          </a:xfrm>
          <a:prstGeom prst="rect">
            <a:avLst/>
          </a:prstGeom>
          <a:noFill/>
        </p:spPr>
        <p:txBody>
          <a:bodyPr wrap="none" lIns="0" tIns="0" rIns="0" bIns="0" rtlCol="0" anchor="t"/>
          <a:lstStyle/>
          <a:p>
            <a:pPr marL="0" indent="0" algn="l">
              <a:lnSpc>
                <a:spcPts val="2000"/>
              </a:lnSpc>
              <a:buNone/>
            </a:pPr>
            <a:r>
              <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Autonomous Operation</a:t>
            </a:r>
            <a:endPar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1" name="Text 7"/>
          <p:cNvSpPr/>
          <p:nvPr>
            <p:custDataLst>
              <p:tags r:id="rId11"/>
            </p:custDataLst>
          </p:nvPr>
        </p:nvSpPr>
        <p:spPr>
          <a:xfrm>
            <a:off x="2915603" y="5563037"/>
            <a:ext cx="4760119" cy="443151"/>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Agentic AI allows human-in-the-loop control for critical decisions.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2" name="Shape 8"/>
          <p:cNvSpPr/>
          <p:nvPr>
            <p:custDataLst>
              <p:tags r:id="rId12"/>
            </p:custDataLst>
          </p:nvPr>
        </p:nvSpPr>
        <p:spPr>
          <a:xfrm>
            <a:off x="2141696" y="6283008"/>
            <a:ext cx="662702" cy="994053"/>
          </a:xfrm>
          <a:prstGeom prst="roundRect">
            <a:avLst>
              <a:gd name="adj" fmla="val 360009"/>
            </a:avLst>
          </a:prstGeom>
          <a:solidFill>
            <a:srgbClr val="003180"/>
          </a:solidFill>
          <a:ln w="7620">
            <a:solidFill>
              <a:srgbClr val="194A99"/>
            </a:solidFill>
            <a:prstDash val="solid"/>
          </a:ln>
        </p:spPr>
      </p:sp>
      <p:pic>
        <p:nvPicPr>
          <p:cNvPr id="13" name="Image 2" descr="preencoded.png"/>
          <p:cNvPicPr>
            <a:picLocks noChangeAspect="1"/>
          </p:cNvPicPr>
          <p:nvPr>
            <p:custDataLst>
              <p:tags r:id="rId13"/>
            </p:custDataLst>
          </p:nvPr>
        </p:nvPicPr>
        <p:blipFill>
          <a:blip r:embed="rId3">
            <a:extLst>
              <a:ext uri="{96DAC541-7B7A-43D3-8B79-37D633B846F1}">
                <asvg:svgBlip xmlns:asvg="http://schemas.microsoft.com/office/drawing/2016/SVG/main" r:embed="rId14"/>
              </a:ext>
            </a:extLst>
          </a:blip>
          <a:stretch>
            <a:fillRect/>
          </a:stretch>
        </p:blipFill>
        <p:spPr>
          <a:xfrm>
            <a:off x="2348746" y="6655792"/>
            <a:ext cx="248483" cy="248483"/>
          </a:xfrm>
          <a:prstGeom prst="rect">
            <a:avLst/>
          </a:prstGeom>
        </p:spPr>
      </p:pic>
      <p:sp>
        <p:nvSpPr>
          <p:cNvPr id="14" name="Text 9"/>
          <p:cNvSpPr/>
          <p:nvPr>
            <p:custDataLst>
              <p:tags r:id="rId15"/>
            </p:custDataLst>
          </p:nvPr>
        </p:nvSpPr>
        <p:spPr>
          <a:xfrm>
            <a:off x="2915603" y="6448623"/>
            <a:ext cx="2101810" cy="258723"/>
          </a:xfrm>
          <a:prstGeom prst="rect">
            <a:avLst/>
          </a:prstGeom>
          <a:noFill/>
        </p:spPr>
        <p:txBody>
          <a:bodyPr wrap="none" lIns="0" tIns="0" rIns="0" bIns="0" rtlCol="0" anchor="t"/>
          <a:lstStyle/>
          <a:p>
            <a:pPr marL="0" indent="0" algn="l">
              <a:lnSpc>
                <a:spcPts val="2000"/>
              </a:lnSpc>
              <a:buNone/>
            </a:pPr>
            <a:r>
              <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Scalable &amp; Extensible</a:t>
            </a:r>
            <a:endPar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5" name="Text 10"/>
          <p:cNvSpPr/>
          <p:nvPr>
            <p:custDataLst>
              <p:tags r:id="rId16"/>
            </p:custDataLst>
          </p:nvPr>
        </p:nvSpPr>
        <p:spPr>
          <a:xfrm>
            <a:off x="2915603" y="6818551"/>
            <a:ext cx="4760119" cy="221575"/>
          </a:xfrm>
          <a:prstGeom prst="rect">
            <a:avLst/>
          </a:prstGeom>
          <a:noFill/>
        </p:spPr>
        <p:txBody>
          <a:bodyPr wrap="none" lIns="0" tIns="0" rIns="0" bIns="0" rtlCol="0" anchor="t"/>
          <a:lstStyle/>
          <a:p>
            <a:pPr marL="0" indent="0" algn="l">
              <a:lnSpc>
                <a:spcPts val="17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Future integration with smart city IoT, drones, etc.</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16" name="Image 3" descr="preencoded.png"/>
          <p:cNvPicPr>
            <a:picLocks noChangeAspect="1"/>
          </p:cNvPicPr>
          <p:nvPr/>
        </p:nvPicPr>
        <p:blipFill>
          <a:blip r:embed="rId17"/>
          <a:stretch>
            <a:fillRect/>
          </a:stretch>
        </p:blipFill>
        <p:spPr>
          <a:xfrm>
            <a:off x="8712279" y="2388553"/>
            <a:ext cx="4454366" cy="44543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327315" y="914876"/>
            <a:ext cx="7714536" cy="446603"/>
          </a:xfrm>
          <a:prstGeom prst="rect">
            <a:avLst/>
          </a:prstGeom>
          <a:noFill/>
        </p:spPr>
        <p:txBody>
          <a:bodyPr wrap="none" lIns="0" tIns="0" rIns="0" bIns="0" rtlCol="0" anchor="t"/>
          <a:lstStyle/>
          <a:p>
            <a:pPr marL="0" indent="0" algn="l">
              <a:lnSpc>
                <a:spcPts val="3500"/>
              </a:lnSpc>
              <a:buNone/>
            </a:pPr>
            <a:r>
              <a:rPr lang="en-US" sz="36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Proposed System: AGENT-RESCUE Workflow</a:t>
            </a:r>
            <a:endParaRPr lang="en-US" sz="36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3" name="Text 1"/>
          <p:cNvSpPr/>
          <p:nvPr/>
        </p:nvSpPr>
        <p:spPr>
          <a:xfrm>
            <a:off x="2484160" y="1513007"/>
            <a:ext cx="8966002" cy="361236"/>
          </a:xfrm>
          <a:prstGeom prst="rect">
            <a:avLst/>
          </a:prstGeom>
          <a:noFill/>
        </p:spPr>
        <p:txBody>
          <a:bodyPr wrap="square" lIns="0" tIns="0" rIns="0" bIns="0" rtlCol="0" anchor="t"/>
          <a:lstStyle/>
          <a:p>
            <a:pPr marL="0" indent="0" algn="l">
              <a:lnSpc>
                <a:spcPct val="10000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AGENT-RESCUE is an autonomous Agentic AI system designed to support human decision-makers throughout the entire emergency response lifecycle, from detection to post-event learning.</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4" name="Image 0" descr="preencoded.png"/>
          <p:cNvPicPr>
            <a:picLocks noChangeAspect="1"/>
          </p:cNvPicPr>
          <p:nvPr/>
        </p:nvPicPr>
        <p:blipFill>
          <a:blip r:embed="rId1"/>
          <a:stretch>
            <a:fillRect/>
          </a:stretch>
        </p:blipFill>
        <p:spPr>
          <a:xfrm>
            <a:off x="2990334" y="2404229"/>
            <a:ext cx="8678823" cy="3256598"/>
          </a:xfrm>
          <a:prstGeom prst="rect">
            <a:avLst/>
          </a:prstGeom>
        </p:spPr>
      </p:pic>
      <p:pic>
        <p:nvPicPr>
          <p:cNvPr id="5"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87450" y="2810833"/>
            <a:ext cx="448283" cy="448283"/>
          </a:xfrm>
          <a:prstGeom prst="rect">
            <a:avLst/>
          </a:prstGeom>
        </p:spPr>
      </p:pic>
      <p:sp>
        <p:nvSpPr>
          <p:cNvPr id="6" name="Text 2"/>
          <p:cNvSpPr/>
          <p:nvPr/>
        </p:nvSpPr>
        <p:spPr>
          <a:xfrm>
            <a:off x="9836150" y="4321175"/>
            <a:ext cx="1753235" cy="756285"/>
          </a:xfrm>
          <a:prstGeom prst="rect">
            <a:avLst/>
          </a:prstGeom>
          <a:noFill/>
        </p:spPr>
        <p:txBody>
          <a:bodyPr wrap="square" lIns="0" tIns="0" rIns="0" bIns="0" rtlCol="0" anchor="t"/>
          <a:lstStyle/>
          <a:p>
            <a:pPr marL="0" indent="0" algn="ctr">
              <a:lnSpc>
                <a:spcPts val="165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Communication &amp; Learning</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7" name="Image 2" descr="preencoded.png"/>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8746313" y="2811673"/>
            <a:ext cx="448283" cy="448283"/>
          </a:xfrm>
          <a:prstGeom prst="rect">
            <a:avLst/>
          </a:prstGeom>
        </p:spPr>
      </p:pic>
      <p:sp>
        <p:nvSpPr>
          <p:cNvPr id="8" name="Text 3"/>
          <p:cNvSpPr/>
          <p:nvPr/>
        </p:nvSpPr>
        <p:spPr>
          <a:xfrm>
            <a:off x="8338375" y="4321267"/>
            <a:ext cx="1308987" cy="504319"/>
          </a:xfrm>
          <a:prstGeom prst="rect">
            <a:avLst/>
          </a:prstGeom>
          <a:noFill/>
        </p:spPr>
        <p:txBody>
          <a:bodyPr wrap="square" lIns="0" tIns="0" rIns="0" bIns="0" rtlCol="0" anchor="t"/>
          <a:lstStyle/>
          <a:p>
            <a:pPr marL="0" indent="0" algn="ctr">
              <a:lnSpc>
                <a:spcPts val="165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Resource Allocation</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9" name="Image 3" descr="preencoded.png"/>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7105595" y="2811673"/>
            <a:ext cx="448283" cy="448283"/>
          </a:xfrm>
          <a:prstGeom prst="rect">
            <a:avLst/>
          </a:prstGeom>
        </p:spPr>
      </p:pic>
      <p:sp>
        <p:nvSpPr>
          <p:cNvPr id="10" name="Text 4"/>
          <p:cNvSpPr/>
          <p:nvPr/>
        </p:nvSpPr>
        <p:spPr>
          <a:xfrm>
            <a:off x="6697657" y="4321267"/>
            <a:ext cx="1308987" cy="504319"/>
          </a:xfrm>
          <a:prstGeom prst="rect">
            <a:avLst/>
          </a:prstGeom>
          <a:noFill/>
        </p:spPr>
        <p:txBody>
          <a:bodyPr wrap="square" lIns="0" tIns="0" rIns="0" bIns="0" rtlCol="0" anchor="t"/>
          <a:lstStyle/>
          <a:p>
            <a:pPr marL="0" indent="0" algn="ctr">
              <a:lnSpc>
                <a:spcPts val="165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Situation Assessment</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11" name="Image 4" descr="preencoded.png"/>
          <p:cNvPicPr>
            <a:picLocks noChangeAspect="1"/>
          </p:cNvPicPr>
          <p:nvPr/>
        </p:nvPicPr>
        <p:blipFill>
          <a:blip r:embed="rId2">
            <a:extLst>
              <a:ext uri="{96DAC541-7B7A-43D3-8B79-37D633B846F1}">
                <asvg:svgBlip xmlns:asvg="http://schemas.microsoft.com/office/drawing/2016/SVG/main" r:embed="rId6"/>
              </a:ext>
            </a:extLst>
          </a:blip>
          <a:stretch>
            <a:fillRect/>
          </a:stretch>
        </p:blipFill>
        <p:spPr>
          <a:xfrm>
            <a:off x="5464878" y="2811673"/>
            <a:ext cx="448283" cy="448283"/>
          </a:xfrm>
          <a:prstGeom prst="rect">
            <a:avLst/>
          </a:prstGeom>
        </p:spPr>
      </p:pic>
      <p:sp>
        <p:nvSpPr>
          <p:cNvPr id="12" name="Text 5"/>
          <p:cNvSpPr/>
          <p:nvPr/>
        </p:nvSpPr>
        <p:spPr>
          <a:xfrm>
            <a:off x="5056940" y="4321267"/>
            <a:ext cx="1308988" cy="504319"/>
          </a:xfrm>
          <a:prstGeom prst="rect">
            <a:avLst/>
          </a:prstGeom>
          <a:noFill/>
        </p:spPr>
        <p:txBody>
          <a:bodyPr wrap="square" lIns="0" tIns="0" rIns="0" bIns="0" rtlCol="0" anchor="t"/>
          <a:lstStyle/>
          <a:p>
            <a:pPr marL="0" indent="0" algn="ctr">
              <a:lnSpc>
                <a:spcPts val="165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Disaster Prediction</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13" name="Image 5" descr="preencoded.png"/>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3815195" y="2811673"/>
            <a:ext cx="448284" cy="448283"/>
          </a:xfrm>
          <a:prstGeom prst="rect">
            <a:avLst/>
          </a:prstGeom>
        </p:spPr>
      </p:pic>
      <p:sp>
        <p:nvSpPr>
          <p:cNvPr id="14" name="Text 6"/>
          <p:cNvSpPr/>
          <p:nvPr/>
        </p:nvSpPr>
        <p:spPr>
          <a:xfrm>
            <a:off x="3380360" y="4321267"/>
            <a:ext cx="1308988" cy="504319"/>
          </a:xfrm>
          <a:prstGeom prst="rect">
            <a:avLst/>
          </a:prstGeom>
          <a:noFill/>
        </p:spPr>
        <p:txBody>
          <a:bodyPr wrap="square" lIns="0" tIns="0" rIns="0" bIns="0" rtlCol="0" anchor="t"/>
          <a:lstStyle/>
          <a:p>
            <a:pPr marL="0" indent="0" algn="ctr">
              <a:lnSpc>
                <a:spcPts val="165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Data Collection</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5" name="Shape 7"/>
          <p:cNvSpPr/>
          <p:nvPr/>
        </p:nvSpPr>
        <p:spPr>
          <a:xfrm>
            <a:off x="2155825" y="5330825"/>
            <a:ext cx="2779395" cy="1360170"/>
          </a:xfrm>
          <a:prstGeom prst="roundRect">
            <a:avLst>
              <a:gd name="adj" fmla="val 5308"/>
            </a:avLst>
          </a:prstGeom>
          <a:solidFill>
            <a:srgbClr val="09151A">
              <a:alpha val="95000"/>
            </a:srgbClr>
          </a:solidFill>
          <a:ln w="15240">
            <a:solidFill>
              <a:srgbClr val="194A99"/>
            </a:solidFill>
            <a:prstDash val="solid"/>
          </a:ln>
        </p:spPr>
      </p:sp>
      <p:sp>
        <p:nvSpPr>
          <p:cNvPr id="16" name="Text 8"/>
          <p:cNvSpPr/>
          <p:nvPr/>
        </p:nvSpPr>
        <p:spPr>
          <a:xfrm>
            <a:off x="2484160" y="5489138"/>
            <a:ext cx="1786652" cy="223361"/>
          </a:xfrm>
          <a:prstGeom prst="rect">
            <a:avLst/>
          </a:prstGeom>
          <a:noFill/>
        </p:spPr>
        <p:txBody>
          <a:bodyPr wrap="none" lIns="0" tIns="0" rIns="0" bIns="0" rtlCol="0" anchor="t"/>
          <a:lstStyle/>
          <a:p>
            <a:pPr marL="0" indent="0" algn="l">
              <a:lnSpc>
                <a:spcPts val="17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Data Collection</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7" name="Text 9"/>
          <p:cNvSpPr/>
          <p:nvPr/>
        </p:nvSpPr>
        <p:spPr>
          <a:xfrm>
            <a:off x="2286000" y="5808345"/>
            <a:ext cx="2567940" cy="885825"/>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Continuous monitoring from historical, real-time, and citizen sources.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8" name="Shape 10"/>
          <p:cNvSpPr/>
          <p:nvPr/>
        </p:nvSpPr>
        <p:spPr>
          <a:xfrm>
            <a:off x="4978400" y="5330825"/>
            <a:ext cx="2335530" cy="1328420"/>
          </a:xfrm>
          <a:prstGeom prst="roundRect">
            <a:avLst>
              <a:gd name="adj" fmla="val 5308"/>
            </a:avLst>
          </a:prstGeom>
          <a:solidFill>
            <a:srgbClr val="09151A">
              <a:alpha val="95000"/>
            </a:srgbClr>
          </a:solidFill>
          <a:ln w="15240">
            <a:solidFill>
              <a:srgbClr val="194A99"/>
            </a:solidFill>
            <a:prstDash val="solid"/>
          </a:ln>
        </p:spPr>
      </p:sp>
      <p:sp>
        <p:nvSpPr>
          <p:cNvPr id="19" name="Text 11"/>
          <p:cNvSpPr/>
          <p:nvPr/>
        </p:nvSpPr>
        <p:spPr>
          <a:xfrm>
            <a:off x="5252442" y="5489138"/>
            <a:ext cx="1786652" cy="223361"/>
          </a:xfrm>
          <a:prstGeom prst="rect">
            <a:avLst/>
          </a:prstGeom>
          <a:noFill/>
        </p:spPr>
        <p:txBody>
          <a:bodyPr wrap="none" lIns="0" tIns="0" rIns="0" bIns="0" rtlCol="0" anchor="t"/>
          <a:lstStyle/>
          <a:p>
            <a:pPr marL="0" indent="0" algn="l">
              <a:lnSpc>
                <a:spcPts val="17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Disaster Prediction</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0" name="Text 12"/>
          <p:cNvSpPr/>
          <p:nvPr/>
        </p:nvSpPr>
        <p:spPr>
          <a:xfrm>
            <a:off x="5101590" y="5761990"/>
            <a:ext cx="2171700" cy="824230"/>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ML models analyze data, generate risk scores, trigger alerts.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1" name="Shape 13"/>
          <p:cNvSpPr/>
          <p:nvPr/>
        </p:nvSpPr>
        <p:spPr>
          <a:xfrm>
            <a:off x="7356475" y="5330825"/>
            <a:ext cx="2645410" cy="1316990"/>
          </a:xfrm>
          <a:prstGeom prst="roundRect">
            <a:avLst>
              <a:gd name="adj" fmla="val 5308"/>
            </a:avLst>
          </a:prstGeom>
          <a:solidFill>
            <a:srgbClr val="09151A">
              <a:alpha val="95000"/>
            </a:srgbClr>
          </a:solidFill>
          <a:ln w="15240">
            <a:solidFill>
              <a:srgbClr val="194A99"/>
            </a:solidFill>
            <a:prstDash val="solid"/>
          </a:ln>
        </p:spPr>
      </p:sp>
      <p:sp>
        <p:nvSpPr>
          <p:cNvPr id="22" name="Text 14"/>
          <p:cNvSpPr/>
          <p:nvPr/>
        </p:nvSpPr>
        <p:spPr>
          <a:xfrm>
            <a:off x="7514630" y="5489138"/>
            <a:ext cx="1853684" cy="223361"/>
          </a:xfrm>
          <a:prstGeom prst="rect">
            <a:avLst/>
          </a:prstGeom>
          <a:noFill/>
        </p:spPr>
        <p:txBody>
          <a:bodyPr wrap="none" lIns="0" tIns="0" rIns="0" bIns="0" rtlCol="0" anchor="t"/>
          <a:lstStyle/>
          <a:p>
            <a:pPr marL="0" indent="0" algn="l">
              <a:lnSpc>
                <a:spcPts val="17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Situation Assessment</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3" name="Text 15"/>
          <p:cNvSpPr/>
          <p:nvPr/>
        </p:nvSpPr>
        <p:spPr>
          <a:xfrm>
            <a:off x="7514590" y="5761990"/>
            <a:ext cx="2296795" cy="541655"/>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NLP &amp; CV evaluate real-time conditions, assign severity.</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4" name="Shape 16"/>
          <p:cNvSpPr/>
          <p:nvPr/>
        </p:nvSpPr>
        <p:spPr>
          <a:xfrm>
            <a:off x="10085070" y="5377180"/>
            <a:ext cx="2494280" cy="1316990"/>
          </a:xfrm>
          <a:prstGeom prst="roundRect">
            <a:avLst>
              <a:gd name="adj" fmla="val 5308"/>
            </a:avLst>
          </a:prstGeom>
          <a:solidFill>
            <a:srgbClr val="09151A">
              <a:alpha val="95000"/>
            </a:srgbClr>
          </a:solidFill>
          <a:ln w="15240">
            <a:solidFill>
              <a:srgbClr val="194A99"/>
            </a:solidFill>
            <a:prstDash val="solid"/>
          </a:ln>
        </p:spPr>
      </p:sp>
      <p:sp>
        <p:nvSpPr>
          <p:cNvPr id="25" name="Text 17"/>
          <p:cNvSpPr/>
          <p:nvPr/>
        </p:nvSpPr>
        <p:spPr>
          <a:xfrm>
            <a:off x="10192107" y="5489138"/>
            <a:ext cx="1786652" cy="223361"/>
          </a:xfrm>
          <a:prstGeom prst="rect">
            <a:avLst/>
          </a:prstGeom>
          <a:noFill/>
        </p:spPr>
        <p:txBody>
          <a:bodyPr wrap="none" lIns="0" tIns="0" rIns="0" bIns="0" rtlCol="0" anchor="t"/>
          <a:lstStyle/>
          <a:p>
            <a:pPr marL="0" indent="0" algn="l">
              <a:lnSpc>
                <a:spcPts val="17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Resource Allocation</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6" name="Text 18"/>
          <p:cNvSpPr/>
          <p:nvPr/>
        </p:nvSpPr>
        <p:spPr>
          <a:xfrm>
            <a:off x="10192107" y="5715794"/>
            <a:ext cx="1863209" cy="361236"/>
          </a:xfrm>
          <a:prstGeom prst="rect">
            <a:avLst/>
          </a:prstGeom>
          <a:noFill/>
        </p:spPr>
        <p:txBody>
          <a:bodyPr wrap="square" lIns="0" tIns="0" rIns="0" bIns="0" rtlCol="0" anchor="t"/>
          <a:lstStyle/>
          <a:p>
            <a:pPr marL="0" indent="0" algn="l">
              <a:lnSpc>
                <a:spcPct val="1000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RL optimizes deployment of emergency assets.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7" name="Shape 19"/>
          <p:cNvSpPr/>
          <p:nvPr/>
        </p:nvSpPr>
        <p:spPr>
          <a:xfrm>
            <a:off x="2832140" y="6841411"/>
            <a:ext cx="8966002" cy="769858"/>
          </a:xfrm>
          <a:prstGeom prst="roundRect">
            <a:avLst>
              <a:gd name="adj" fmla="val 7798"/>
            </a:avLst>
          </a:prstGeom>
          <a:solidFill>
            <a:srgbClr val="09151A">
              <a:alpha val="95000"/>
            </a:srgbClr>
          </a:solidFill>
          <a:ln w="15240">
            <a:solidFill>
              <a:srgbClr val="194A99"/>
            </a:solidFill>
            <a:prstDash val="solid"/>
          </a:ln>
        </p:spPr>
      </p:sp>
      <p:sp>
        <p:nvSpPr>
          <p:cNvPr id="28" name="Text 20"/>
          <p:cNvSpPr/>
          <p:nvPr/>
        </p:nvSpPr>
        <p:spPr>
          <a:xfrm>
            <a:off x="2990255" y="6938566"/>
            <a:ext cx="2392918" cy="223361"/>
          </a:xfrm>
          <a:prstGeom prst="rect">
            <a:avLst/>
          </a:prstGeom>
          <a:noFill/>
        </p:spPr>
        <p:txBody>
          <a:bodyPr wrap="none" lIns="0" tIns="0" rIns="0" bIns="0" rtlCol="0" anchor="t"/>
          <a:lstStyle/>
          <a:p>
            <a:pPr marL="0" indent="0" algn="l">
              <a:lnSpc>
                <a:spcPts val="17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Communication &amp; Learning</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9" name="Text 21"/>
          <p:cNvSpPr/>
          <p:nvPr/>
        </p:nvSpPr>
        <p:spPr>
          <a:xfrm>
            <a:off x="2990255" y="7325241"/>
            <a:ext cx="8649772" cy="180618"/>
          </a:xfrm>
          <a:prstGeom prst="rect">
            <a:avLst/>
          </a:prstGeom>
          <a:noFill/>
        </p:spPr>
        <p:txBody>
          <a:bodyPr wrap="none" lIns="0" tIns="0" rIns="0" bIns="0" rtlCol="0" anchor="t"/>
          <a:lstStyle/>
          <a:p>
            <a:pPr marL="0" indent="0" algn="l">
              <a:lnSpc>
                <a:spcPts val="14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Disseminates alerts, provides assistance, and retrains models.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4028" y="920591"/>
            <a:ext cx="10475952" cy="709017"/>
          </a:xfrm>
          <a:prstGeom prst="rect">
            <a:avLst/>
          </a:prstGeom>
          <a:noFill/>
        </p:spPr>
        <p:txBody>
          <a:bodyPr wrap="none" lIns="0" tIns="0" rIns="0" bIns="0" rtlCol="0" anchor="t"/>
          <a:lstStyle/>
          <a:p>
            <a:pPr marL="0" indent="0" algn="l">
              <a:lnSpc>
                <a:spcPts val="5550"/>
              </a:lnSpc>
              <a:buNone/>
            </a:pPr>
            <a:r>
              <a:rPr lang="en-US" sz="44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Literature Survey: Identified Strengths</a:t>
            </a:r>
            <a:endParaRPr lang="en-US" sz="4450" dirty="0"/>
          </a:p>
        </p:txBody>
      </p:sp>
      <p:sp>
        <p:nvSpPr>
          <p:cNvPr id="3" name="Text 1"/>
          <p:cNvSpPr/>
          <p:nvPr/>
        </p:nvSpPr>
        <p:spPr>
          <a:xfrm>
            <a:off x="794028" y="2046565"/>
            <a:ext cx="13042344" cy="696754"/>
          </a:xfrm>
          <a:prstGeom prst="rect">
            <a:avLst/>
          </a:prstGeom>
          <a:noFill/>
        </p:spPr>
        <p:txBody>
          <a:bodyPr wrap="square" lIns="0" tIns="0" rIns="0" bIns="0" rtlCol="0" anchor="t"/>
          <a:lstStyle/>
          <a:p>
            <a:pPr marL="0" indent="0" algn="l">
              <a:lnSpc>
                <a:spcPts val="270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 comprehensive review of existing literature reveals several strengths in AI applications for disaster management, which AGENT-RESCUE builds upon.</a:t>
            </a:r>
            <a:endParaRPr lang="en-US" sz="1750" dirty="0"/>
          </a:p>
        </p:txBody>
      </p:sp>
      <p:pic>
        <p:nvPicPr>
          <p:cNvPr id="4"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4028" y="2977872"/>
            <a:ext cx="453747" cy="453747"/>
          </a:xfrm>
          <a:prstGeom prst="rect">
            <a:avLst/>
          </a:prstGeom>
        </p:spPr>
      </p:pic>
      <p:sp>
        <p:nvSpPr>
          <p:cNvPr id="5" name="Text 2"/>
          <p:cNvSpPr/>
          <p:nvPr/>
        </p:nvSpPr>
        <p:spPr>
          <a:xfrm>
            <a:off x="1508403" y="3055858"/>
            <a:ext cx="3459242" cy="708898"/>
          </a:xfrm>
          <a:prstGeom prst="rect">
            <a:avLst/>
          </a:prstGeom>
          <a:noFill/>
        </p:spPr>
        <p:txBody>
          <a:bodyPr wrap="square" lIns="0" tIns="0" rIns="0" bIns="0" rtlCol="0" anchor="t"/>
          <a:lstStyle/>
          <a:p>
            <a:pPr marL="0" indent="0" algn="l">
              <a:lnSpc>
                <a:spcPts val="2750"/>
              </a:lnSpc>
              <a:buNone/>
            </a:pPr>
            <a:r>
              <a:rPr lang="en-US" sz="22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Effective AI for Prediction</a:t>
            </a:r>
            <a:endParaRPr lang="en-US" sz="2200" dirty="0"/>
          </a:p>
        </p:txBody>
      </p:sp>
      <p:sp>
        <p:nvSpPr>
          <p:cNvPr id="6" name="Text 3"/>
          <p:cNvSpPr/>
          <p:nvPr/>
        </p:nvSpPr>
        <p:spPr>
          <a:xfrm>
            <a:off x="1508403" y="3889772"/>
            <a:ext cx="3459242" cy="1045131"/>
          </a:xfrm>
          <a:prstGeom prst="rect">
            <a:avLst/>
          </a:prstGeom>
          <a:noFill/>
        </p:spPr>
        <p:txBody>
          <a:bodyPr wrap="square" lIns="0" tIns="0" rIns="0" bIns="0" rtlCol="0" anchor="t"/>
          <a:lstStyle/>
          <a:p>
            <a:pPr marL="0" indent="0" algn="l">
              <a:lnSpc>
                <a:spcPts val="270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Machine learning models significantly improve disaster prediction accuracy.</a:t>
            </a:r>
            <a:endParaRPr lang="en-US" sz="1750" dirty="0"/>
          </a:p>
        </p:txBody>
      </p:sp>
      <p:pic>
        <p:nvPicPr>
          <p:cNvPr id="7"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5228273" y="2977872"/>
            <a:ext cx="453747" cy="453747"/>
          </a:xfrm>
          <a:prstGeom prst="rect">
            <a:avLst/>
          </a:prstGeom>
        </p:spPr>
      </p:pic>
      <p:sp>
        <p:nvSpPr>
          <p:cNvPr id="8" name="Text 4"/>
          <p:cNvSpPr/>
          <p:nvPr/>
        </p:nvSpPr>
        <p:spPr>
          <a:xfrm>
            <a:off x="5942648" y="3055858"/>
            <a:ext cx="3459361" cy="708898"/>
          </a:xfrm>
          <a:prstGeom prst="rect">
            <a:avLst/>
          </a:prstGeom>
          <a:noFill/>
        </p:spPr>
        <p:txBody>
          <a:bodyPr wrap="square" lIns="0" tIns="0" rIns="0" bIns="0" rtlCol="0" anchor="t"/>
          <a:lstStyle/>
          <a:p>
            <a:pPr marL="0" indent="0" algn="l">
              <a:lnSpc>
                <a:spcPts val="2750"/>
              </a:lnSpc>
              <a:buNone/>
            </a:pPr>
            <a:r>
              <a:rPr lang="en-US" sz="22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Improved Multi-Agent Coordination</a:t>
            </a:r>
            <a:endParaRPr lang="en-US" sz="2200" dirty="0"/>
          </a:p>
        </p:txBody>
      </p:sp>
      <p:sp>
        <p:nvSpPr>
          <p:cNvPr id="9" name="Text 5"/>
          <p:cNvSpPr/>
          <p:nvPr/>
        </p:nvSpPr>
        <p:spPr>
          <a:xfrm>
            <a:off x="5942648" y="3889772"/>
            <a:ext cx="3459361" cy="1045131"/>
          </a:xfrm>
          <a:prstGeom prst="rect">
            <a:avLst/>
          </a:prstGeom>
          <a:noFill/>
        </p:spPr>
        <p:txBody>
          <a:bodyPr wrap="square" lIns="0" tIns="0" rIns="0" bIns="0" rtlCol="0" anchor="t"/>
          <a:lstStyle/>
          <a:p>
            <a:pPr marL="0" indent="0" algn="l">
              <a:lnSpc>
                <a:spcPts val="270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Decentralized systems enhance task parallelization and collaboration.</a:t>
            </a:r>
            <a:endParaRPr lang="en-US" sz="1750" dirty="0"/>
          </a:p>
        </p:txBody>
      </p:sp>
      <p:pic>
        <p:nvPicPr>
          <p:cNvPr id="10"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9662636" y="2977872"/>
            <a:ext cx="453747" cy="453747"/>
          </a:xfrm>
          <a:prstGeom prst="rect">
            <a:avLst/>
          </a:prstGeom>
        </p:spPr>
      </p:pic>
      <p:sp>
        <p:nvSpPr>
          <p:cNvPr id="11" name="Text 6"/>
          <p:cNvSpPr/>
          <p:nvPr/>
        </p:nvSpPr>
        <p:spPr>
          <a:xfrm>
            <a:off x="10377011" y="3055858"/>
            <a:ext cx="3459361" cy="708898"/>
          </a:xfrm>
          <a:prstGeom prst="rect">
            <a:avLst/>
          </a:prstGeom>
          <a:noFill/>
        </p:spPr>
        <p:txBody>
          <a:bodyPr wrap="square" lIns="0" tIns="0" rIns="0" bIns="0" rtlCol="0" anchor="t"/>
          <a:lstStyle/>
          <a:p>
            <a:pPr marL="0" indent="0" algn="l">
              <a:lnSpc>
                <a:spcPts val="2750"/>
              </a:lnSpc>
              <a:buNone/>
            </a:pPr>
            <a:r>
              <a:rPr lang="en-US" sz="22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Real-Time Situational Awareness</a:t>
            </a:r>
            <a:endParaRPr lang="en-US" sz="2200" dirty="0"/>
          </a:p>
        </p:txBody>
      </p:sp>
      <p:sp>
        <p:nvSpPr>
          <p:cNvPr id="12" name="Text 7"/>
          <p:cNvSpPr/>
          <p:nvPr/>
        </p:nvSpPr>
        <p:spPr>
          <a:xfrm>
            <a:off x="10377011" y="3889772"/>
            <a:ext cx="3459361" cy="1045131"/>
          </a:xfrm>
          <a:prstGeom prst="rect">
            <a:avLst/>
          </a:prstGeom>
          <a:noFill/>
        </p:spPr>
        <p:txBody>
          <a:bodyPr wrap="square" lIns="0" tIns="0" rIns="0" bIns="0" rtlCol="0" anchor="t"/>
          <a:lstStyle/>
          <a:p>
            <a:pPr marL="0" indent="0" algn="l">
              <a:lnSpc>
                <a:spcPts val="270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Social media, IoT, and computer vision provide immediate insights.</a:t>
            </a:r>
            <a:endParaRPr lang="en-US" sz="1750" dirty="0"/>
          </a:p>
        </p:txBody>
      </p:sp>
      <p:pic>
        <p:nvPicPr>
          <p:cNvPr id="13"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794028" y="5351859"/>
            <a:ext cx="453747" cy="453747"/>
          </a:xfrm>
          <a:prstGeom prst="rect">
            <a:avLst/>
          </a:prstGeom>
        </p:spPr>
      </p:pic>
      <p:sp>
        <p:nvSpPr>
          <p:cNvPr id="14" name="Text 8"/>
          <p:cNvSpPr/>
          <p:nvPr/>
        </p:nvSpPr>
        <p:spPr>
          <a:xfrm>
            <a:off x="1508403" y="5429845"/>
            <a:ext cx="3459242" cy="708898"/>
          </a:xfrm>
          <a:prstGeom prst="rect">
            <a:avLst/>
          </a:prstGeom>
          <a:noFill/>
        </p:spPr>
        <p:txBody>
          <a:bodyPr wrap="square" lIns="0" tIns="0" rIns="0" bIns="0" rtlCol="0" anchor="t"/>
          <a:lstStyle/>
          <a:p>
            <a:pPr marL="0" indent="0" algn="l">
              <a:lnSpc>
                <a:spcPts val="2750"/>
              </a:lnSpc>
              <a:buNone/>
            </a:pPr>
            <a:r>
              <a:rPr lang="en-US" sz="22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Reinforcement Learning Optimization</a:t>
            </a:r>
            <a:endParaRPr lang="en-US" sz="2200" dirty="0"/>
          </a:p>
        </p:txBody>
      </p:sp>
      <p:sp>
        <p:nvSpPr>
          <p:cNvPr id="15" name="Text 9"/>
          <p:cNvSpPr/>
          <p:nvPr/>
        </p:nvSpPr>
        <p:spPr>
          <a:xfrm>
            <a:off x="1508403" y="6263759"/>
            <a:ext cx="3459242" cy="696754"/>
          </a:xfrm>
          <a:prstGeom prst="rect">
            <a:avLst/>
          </a:prstGeom>
          <a:noFill/>
        </p:spPr>
        <p:txBody>
          <a:bodyPr wrap="square" lIns="0" tIns="0" rIns="0" bIns="0" rtlCol="0" anchor="t"/>
          <a:lstStyle/>
          <a:p>
            <a:pPr marL="0" indent="0" algn="l">
              <a:lnSpc>
                <a:spcPts val="270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Optimal resource allocation based on learned strategies.</a:t>
            </a:r>
            <a:endParaRPr lang="en-US" sz="1750" dirty="0"/>
          </a:p>
        </p:txBody>
      </p:sp>
      <p:pic>
        <p:nvPicPr>
          <p:cNvPr id="16" name="Image 4" descr="preencoded.png"/>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5228273" y="5351859"/>
            <a:ext cx="453747" cy="453747"/>
          </a:xfrm>
          <a:prstGeom prst="rect">
            <a:avLst/>
          </a:prstGeom>
        </p:spPr>
      </p:pic>
      <p:sp>
        <p:nvSpPr>
          <p:cNvPr id="17" name="Text 10"/>
          <p:cNvSpPr/>
          <p:nvPr/>
        </p:nvSpPr>
        <p:spPr>
          <a:xfrm>
            <a:off x="5942648" y="5429845"/>
            <a:ext cx="3459361" cy="708898"/>
          </a:xfrm>
          <a:prstGeom prst="rect">
            <a:avLst/>
          </a:prstGeom>
          <a:noFill/>
        </p:spPr>
        <p:txBody>
          <a:bodyPr wrap="square" lIns="0" tIns="0" rIns="0" bIns="0" rtlCol="0" anchor="t"/>
          <a:lstStyle/>
          <a:p>
            <a:pPr marL="0" indent="0" algn="l">
              <a:lnSpc>
                <a:spcPts val="2750"/>
              </a:lnSpc>
              <a:buNone/>
            </a:pPr>
            <a:r>
              <a:rPr lang="en-US" sz="22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Growing Explainable AI Importance</a:t>
            </a:r>
            <a:endParaRPr lang="en-US" sz="2200" dirty="0"/>
          </a:p>
        </p:txBody>
      </p:sp>
      <p:sp>
        <p:nvSpPr>
          <p:cNvPr id="18" name="Text 11"/>
          <p:cNvSpPr/>
          <p:nvPr/>
        </p:nvSpPr>
        <p:spPr>
          <a:xfrm>
            <a:off x="5942648" y="6263759"/>
            <a:ext cx="3459361" cy="1045131"/>
          </a:xfrm>
          <a:prstGeom prst="rect">
            <a:avLst/>
          </a:prstGeom>
          <a:noFill/>
        </p:spPr>
        <p:txBody>
          <a:bodyPr wrap="square" lIns="0" tIns="0" rIns="0" bIns="0" rtlCol="0" anchor="t"/>
          <a:lstStyle/>
          <a:p>
            <a:pPr marL="0" indent="0" algn="l">
              <a:lnSpc>
                <a:spcPts val="270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Transparency and accountability in AI-driven public safety decisions.</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3792" y="1168122"/>
            <a:ext cx="11460718" cy="647819"/>
          </a:xfrm>
          <a:prstGeom prst="rect">
            <a:avLst/>
          </a:prstGeom>
          <a:noFill/>
        </p:spPr>
        <p:txBody>
          <a:bodyPr wrap="none" lIns="0" tIns="0" rIns="0" bIns="0" rtlCol="0" anchor="t"/>
          <a:lstStyle/>
          <a:p>
            <a:pPr marL="0" indent="0" algn="l">
              <a:lnSpc>
                <a:spcPts val="5100"/>
              </a:lnSpc>
              <a:buNone/>
            </a:pPr>
            <a:r>
              <a:rPr lang="en-US" sz="40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Literature Survey: Addressing Key Limitations</a:t>
            </a:r>
            <a:endParaRPr lang="en-US" sz="4050" dirty="0"/>
          </a:p>
        </p:txBody>
      </p:sp>
      <p:sp>
        <p:nvSpPr>
          <p:cNvPr id="3" name="Text 1"/>
          <p:cNvSpPr/>
          <p:nvPr/>
        </p:nvSpPr>
        <p:spPr>
          <a:xfrm>
            <a:off x="813792" y="2164080"/>
            <a:ext cx="13002816" cy="610076"/>
          </a:xfrm>
          <a:prstGeom prst="rect">
            <a:avLst/>
          </a:prstGeom>
          <a:noFill/>
        </p:spPr>
        <p:txBody>
          <a:bodyPr wrap="square" lIns="0" tIns="0" rIns="0" bIns="0" rtlCol="0" anchor="t"/>
          <a:lstStyle/>
          <a:p>
            <a:pPr marL="0" indent="0" algn="l">
              <a:lnSpc>
                <a:spcPts val="24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Despite advancements, current systems face limitations that AGENT-RESCUE is designed to overcome, offering a more integrated and adaptive solution.</a:t>
            </a:r>
            <a:endParaRPr lang="en-US" sz="1600" dirty="0"/>
          </a:p>
        </p:txBody>
      </p:sp>
      <p:sp>
        <p:nvSpPr>
          <p:cNvPr id="4" name="Text 2"/>
          <p:cNvSpPr/>
          <p:nvPr/>
        </p:nvSpPr>
        <p:spPr>
          <a:xfrm>
            <a:off x="813792" y="3143964"/>
            <a:ext cx="3281005" cy="388739"/>
          </a:xfrm>
          <a:prstGeom prst="rect">
            <a:avLst/>
          </a:prstGeom>
          <a:noFill/>
        </p:spPr>
        <p:txBody>
          <a:bodyPr wrap="none" lIns="0" tIns="0" rIns="0" bIns="0" rtlCol="0" anchor="t"/>
          <a:lstStyle/>
          <a:p>
            <a:pPr marL="0" indent="0" algn="l">
              <a:lnSpc>
                <a:spcPts val="3050"/>
              </a:lnSpc>
              <a:buNone/>
            </a:pPr>
            <a:r>
              <a:rPr lang="en-US" sz="24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Limitations Identified</a:t>
            </a:r>
            <a:endParaRPr lang="en-US" sz="2400" dirty="0"/>
          </a:p>
        </p:txBody>
      </p:sp>
      <p:sp>
        <p:nvSpPr>
          <p:cNvPr id="5" name="Text 3"/>
          <p:cNvSpPr/>
          <p:nvPr/>
        </p:nvSpPr>
        <p:spPr>
          <a:xfrm>
            <a:off x="813792" y="3706773"/>
            <a:ext cx="6248519" cy="1525520"/>
          </a:xfrm>
          <a:prstGeom prst="rect">
            <a:avLst/>
          </a:prstGeom>
          <a:noFill/>
        </p:spPr>
        <p:txBody>
          <a:bodyPr wrap="square" lIns="0" tIns="0" rIns="0" bIns="0" rtlCol="0" anchor="t"/>
          <a:lstStyle/>
          <a:p>
            <a:pPr marL="342900" indent="-342900" algn="l">
              <a:lnSpc>
                <a:spcPts val="24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Lack of End-to-End Autonomy</a:t>
            </a:r>
            <a:endParaRPr lang="en-US" sz="1600" dirty="0"/>
          </a:p>
          <a:p>
            <a:pPr marL="342900" indent="-342900" algn="l">
              <a:lnSpc>
                <a:spcPts val="24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Limited Learning and Adaptability</a:t>
            </a:r>
            <a:endParaRPr lang="en-US" sz="1600" dirty="0"/>
          </a:p>
          <a:p>
            <a:pPr marL="342900" indent="-342900" algn="l">
              <a:lnSpc>
                <a:spcPts val="24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High Dependence on Human Operators</a:t>
            </a:r>
            <a:endParaRPr lang="en-US" sz="1600" dirty="0"/>
          </a:p>
          <a:p>
            <a:pPr marL="342900" indent="-342900" algn="l">
              <a:lnSpc>
                <a:spcPts val="24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Poor Explainability in Decisions</a:t>
            </a:r>
            <a:endParaRPr lang="en-US" sz="1600" dirty="0"/>
          </a:p>
          <a:p>
            <a:pPr marL="342900" indent="-342900" algn="l">
              <a:lnSpc>
                <a:spcPts val="2400"/>
              </a:lnSpc>
              <a:buSzPct val="100000"/>
              <a:buChar char="•"/>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Fragmented System Architectures</a:t>
            </a:r>
            <a:endParaRPr lang="en-US" sz="1600" dirty="0"/>
          </a:p>
        </p:txBody>
      </p:sp>
      <p:sp>
        <p:nvSpPr>
          <p:cNvPr id="6" name="Shape 4"/>
          <p:cNvSpPr/>
          <p:nvPr/>
        </p:nvSpPr>
        <p:spPr>
          <a:xfrm>
            <a:off x="7426404" y="2969895"/>
            <a:ext cx="6547128" cy="4091464"/>
          </a:xfrm>
          <a:prstGeom prst="roundRect">
            <a:avLst>
              <a:gd name="adj" fmla="val 3648"/>
            </a:avLst>
          </a:prstGeom>
          <a:solidFill>
            <a:srgbClr val="2150FE">
              <a:alpha val="95000"/>
            </a:srgbClr>
          </a:solidFill>
        </p:spPr>
      </p:sp>
      <p:sp>
        <p:nvSpPr>
          <p:cNvPr id="7" name="Text 5"/>
          <p:cNvSpPr/>
          <p:nvPr/>
        </p:nvSpPr>
        <p:spPr>
          <a:xfrm>
            <a:off x="7633692" y="3143964"/>
            <a:ext cx="4158615" cy="388739"/>
          </a:xfrm>
          <a:prstGeom prst="rect">
            <a:avLst/>
          </a:prstGeom>
          <a:noFill/>
        </p:spPr>
        <p:txBody>
          <a:bodyPr wrap="none" lIns="0" tIns="0" rIns="0" bIns="0" rtlCol="0" anchor="t"/>
          <a:lstStyle/>
          <a:p>
            <a:pPr marL="0" indent="0" algn="l">
              <a:lnSpc>
                <a:spcPts val="3050"/>
              </a:lnSpc>
              <a:buNone/>
            </a:pPr>
            <a:r>
              <a:rPr lang="en-US" sz="24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AGENT-RESCUE's Solutions</a:t>
            </a:r>
            <a:endParaRPr lang="en-US" sz="2400" dirty="0"/>
          </a:p>
        </p:txBody>
      </p:sp>
      <p:sp>
        <p:nvSpPr>
          <p:cNvPr id="8" name="Text 6"/>
          <p:cNvSpPr/>
          <p:nvPr/>
        </p:nvSpPr>
        <p:spPr>
          <a:xfrm>
            <a:off x="7633692" y="3706773"/>
            <a:ext cx="6132552" cy="3051040"/>
          </a:xfrm>
          <a:prstGeom prst="rect">
            <a:avLst/>
          </a:prstGeom>
          <a:noFill/>
        </p:spPr>
        <p:txBody>
          <a:bodyPr wrap="square" lIns="0" tIns="0" rIns="0" bIns="0" rtlCol="0" anchor="t"/>
          <a:lstStyle/>
          <a:p>
            <a:pPr marL="0" indent="0" algn="l">
              <a:lnSpc>
                <a:spcPts val="2400"/>
              </a:lnSpc>
              <a:buSzPct val="100000"/>
              <a:buNone/>
            </a:pPr>
            <a:r>
              <a:rPr lang="en-US" sz="1600" b="1"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End-to-End Agentic AI Framework:</a:t>
            </a:r>
            <a:r>
              <a:rPr lang="en-US" sz="1600"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 Coordinated agents for full lifecycle.</a:t>
            </a:r>
            <a:endParaRPr lang="en-US" sz="1600" dirty="0"/>
          </a:p>
          <a:p>
            <a:pPr marL="0" indent="0" algn="l">
              <a:lnSpc>
                <a:spcPts val="2400"/>
              </a:lnSpc>
              <a:buSzPct val="100000"/>
              <a:buNone/>
            </a:pPr>
            <a:r>
              <a:rPr lang="en-US" sz="1600" b="1"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Continuous Learning Mechanism:</a:t>
            </a:r>
            <a:r>
              <a:rPr lang="en-US" sz="1600"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 RL and feedback-based retraining.</a:t>
            </a:r>
            <a:endParaRPr lang="en-US" sz="1600" dirty="0"/>
          </a:p>
          <a:p>
            <a:pPr marL="0" indent="0" algn="l">
              <a:lnSpc>
                <a:spcPts val="2400"/>
              </a:lnSpc>
              <a:buSzPct val="100000"/>
              <a:buNone/>
            </a:pPr>
            <a:r>
              <a:rPr lang="en-US" sz="1600" b="1"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Reduced Human Dependency:</a:t>
            </a:r>
            <a:r>
              <a:rPr lang="en-US" sz="1600"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 Autonomous tasks with human oversight.</a:t>
            </a:r>
            <a:endParaRPr lang="en-US" sz="1600" dirty="0"/>
          </a:p>
          <a:p>
            <a:pPr marL="0" indent="0" algn="l">
              <a:lnSpc>
                <a:spcPts val="2400"/>
              </a:lnSpc>
              <a:buSzPct val="100000"/>
              <a:buNone/>
            </a:pPr>
            <a:r>
              <a:rPr lang="en-US" sz="1600" b="1"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Explainable AI Integration:</a:t>
            </a:r>
            <a:r>
              <a:rPr lang="en-US" sz="1600"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 Decision explanations and reasoning modules.</a:t>
            </a:r>
            <a:endParaRPr lang="en-US" sz="1600" dirty="0"/>
          </a:p>
          <a:p>
            <a:pPr marL="0" indent="0" algn="l">
              <a:lnSpc>
                <a:spcPts val="2400"/>
              </a:lnSpc>
              <a:buSzPct val="100000"/>
              <a:buNone/>
            </a:pPr>
            <a:r>
              <a:rPr lang="en-US" sz="1600" b="1"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Unified and Scalable Architecture:</a:t>
            </a:r>
            <a:r>
              <a:rPr lang="en-US" sz="1600"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 Seamless data flow and coordination.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90038" y="736441"/>
            <a:ext cx="8064818" cy="429220"/>
          </a:xfrm>
          <a:prstGeom prst="rect">
            <a:avLst/>
          </a:prstGeom>
          <a:noFill/>
        </p:spPr>
        <p:txBody>
          <a:bodyPr wrap="none" lIns="0" tIns="0" rIns="0" bIns="0" rtlCol="0" anchor="t"/>
          <a:lstStyle/>
          <a:p>
            <a:pPr marL="0" indent="0" algn="l">
              <a:lnSpc>
                <a:spcPts val="3350"/>
              </a:lnSpc>
              <a:buNone/>
            </a:pPr>
            <a:r>
              <a:rPr lang="en-US" sz="36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Methodology: Systematic Design &amp; Development</a:t>
            </a:r>
            <a:endParaRPr lang="en-US" sz="36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3" name="Text 1"/>
          <p:cNvSpPr/>
          <p:nvPr/>
        </p:nvSpPr>
        <p:spPr>
          <a:xfrm>
            <a:off x="2707005" y="1508125"/>
            <a:ext cx="9217025" cy="480060"/>
          </a:xfrm>
          <a:prstGeom prst="rect">
            <a:avLst/>
          </a:prstGeom>
          <a:noFill/>
        </p:spPr>
        <p:txBody>
          <a:bodyPr wrap="square" lIns="0" tIns="0" rIns="0" bIns="0" rtlCol="0" anchor="t"/>
          <a:lstStyle/>
          <a:p>
            <a:pPr marL="0" indent="0" algn="l">
              <a:lnSpc>
                <a:spcPct val="10000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The project adopts a systematic, modular, and iterative approach, divided into six phases, to create an intelligent and adaptable disaster response system.</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a:p>
            <a:pPr marL="0" indent="0" algn="l">
              <a:lnSpc>
                <a:spcPct val="100000"/>
              </a:lnSpc>
              <a:buNone/>
            </a:pP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a:p>
            <a:pPr marL="0" indent="0" algn="l">
              <a:lnSpc>
                <a:spcPct val="100000"/>
              </a:lnSpc>
              <a:buNone/>
            </a:pP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4" name="Shape 2"/>
          <p:cNvSpPr/>
          <p:nvPr/>
        </p:nvSpPr>
        <p:spPr>
          <a:xfrm>
            <a:off x="4802386" y="2330529"/>
            <a:ext cx="717828" cy="705922"/>
          </a:xfrm>
          <a:prstGeom prst="roundRect">
            <a:avLst>
              <a:gd name="adj" fmla="val 8171"/>
            </a:avLst>
          </a:prstGeom>
          <a:solidFill>
            <a:srgbClr val="003180"/>
          </a:solidFill>
          <a:ln w="7620">
            <a:solidFill>
              <a:srgbClr val="194A99"/>
            </a:solidFill>
            <a:prstDash val="solid"/>
          </a:ln>
        </p:spPr>
      </p:sp>
      <p:pic>
        <p:nvPicPr>
          <p:cNvPr id="5"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64681" y="2586871"/>
            <a:ext cx="193119" cy="193119"/>
          </a:xfrm>
          <a:prstGeom prst="rect">
            <a:avLst/>
          </a:prstGeom>
        </p:spPr>
      </p:pic>
      <p:sp>
        <p:nvSpPr>
          <p:cNvPr id="6" name="Text 3"/>
          <p:cNvSpPr/>
          <p:nvPr/>
        </p:nvSpPr>
        <p:spPr>
          <a:xfrm>
            <a:off x="5657493" y="2467808"/>
            <a:ext cx="2048351" cy="214551"/>
          </a:xfrm>
          <a:prstGeom prst="rect">
            <a:avLst/>
          </a:prstGeom>
          <a:noFill/>
        </p:spPr>
        <p:txBody>
          <a:bodyPr wrap="none" lIns="0" tIns="0" rIns="0" bIns="0" rtlCol="0" anchor="t"/>
          <a:lstStyle/>
          <a:p>
            <a:pPr marL="0" indent="0" algn="l">
              <a:lnSpc>
                <a:spcPts val="16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Phase 1: Data Acquisition</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7" name="Text 4"/>
          <p:cNvSpPr/>
          <p:nvPr/>
        </p:nvSpPr>
        <p:spPr>
          <a:xfrm>
            <a:off x="5657493" y="2728198"/>
            <a:ext cx="4498181" cy="170974"/>
          </a:xfrm>
          <a:prstGeom prst="rect">
            <a:avLst/>
          </a:prstGeom>
          <a:noFill/>
        </p:spPr>
        <p:txBody>
          <a:bodyPr wrap="none" lIns="0" tIns="0" rIns="0" bIns="0" rtlCol="0" anchor="t"/>
          <a:lstStyle/>
          <a:p>
            <a:pPr marL="0" indent="0" algn="l">
              <a:lnSpc>
                <a:spcPts val="13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Collecting diverse data from historical records, sensors, and citizens.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8" name="Shape 5"/>
          <p:cNvSpPr/>
          <p:nvPr/>
        </p:nvSpPr>
        <p:spPr>
          <a:xfrm>
            <a:off x="5588794" y="3032641"/>
            <a:ext cx="5965269" cy="7620"/>
          </a:xfrm>
          <a:prstGeom prst="roundRect">
            <a:avLst>
              <a:gd name="adj" fmla="val 756996"/>
            </a:avLst>
          </a:prstGeom>
          <a:solidFill>
            <a:srgbClr val="194A99"/>
          </a:solidFill>
        </p:spPr>
      </p:sp>
      <p:sp>
        <p:nvSpPr>
          <p:cNvPr id="9" name="Shape 6"/>
          <p:cNvSpPr/>
          <p:nvPr/>
        </p:nvSpPr>
        <p:spPr>
          <a:xfrm>
            <a:off x="4443413" y="3105031"/>
            <a:ext cx="1435775" cy="705922"/>
          </a:xfrm>
          <a:prstGeom prst="roundRect">
            <a:avLst>
              <a:gd name="adj" fmla="val 8171"/>
            </a:avLst>
          </a:prstGeom>
          <a:solidFill>
            <a:srgbClr val="003180"/>
          </a:solidFill>
          <a:ln w="7620">
            <a:solidFill>
              <a:srgbClr val="194A99"/>
            </a:solidFill>
            <a:prstDash val="solid"/>
          </a:ln>
        </p:spPr>
      </p:sp>
      <p:pic>
        <p:nvPicPr>
          <p:cNvPr id="10"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5064681" y="3361373"/>
            <a:ext cx="193119" cy="193119"/>
          </a:xfrm>
          <a:prstGeom prst="rect">
            <a:avLst/>
          </a:prstGeom>
        </p:spPr>
      </p:pic>
      <p:sp>
        <p:nvSpPr>
          <p:cNvPr id="11" name="Text 7"/>
          <p:cNvSpPr/>
          <p:nvPr/>
        </p:nvSpPr>
        <p:spPr>
          <a:xfrm>
            <a:off x="6016466" y="3242310"/>
            <a:ext cx="2299692" cy="214551"/>
          </a:xfrm>
          <a:prstGeom prst="rect">
            <a:avLst/>
          </a:prstGeom>
          <a:noFill/>
        </p:spPr>
        <p:txBody>
          <a:bodyPr wrap="none" lIns="0" tIns="0" rIns="0" bIns="0" rtlCol="0" anchor="t"/>
          <a:lstStyle/>
          <a:p>
            <a:pPr marL="0" indent="0" algn="l">
              <a:lnSpc>
                <a:spcPts val="16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Phase 2: Data Preprocessing</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2" name="Text 8"/>
          <p:cNvSpPr/>
          <p:nvPr/>
        </p:nvSpPr>
        <p:spPr>
          <a:xfrm>
            <a:off x="6016466" y="3502700"/>
            <a:ext cx="4561523" cy="170974"/>
          </a:xfrm>
          <a:prstGeom prst="rect">
            <a:avLst/>
          </a:prstGeom>
          <a:noFill/>
        </p:spPr>
        <p:txBody>
          <a:bodyPr wrap="none" lIns="0" tIns="0" rIns="0" bIns="0" rtlCol="0" anchor="t"/>
          <a:lstStyle/>
          <a:p>
            <a:pPr marL="0" indent="0" algn="l">
              <a:lnSpc>
                <a:spcPts val="13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Cleaning, normalizing, and engineering features for model readiness.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3" name="Shape 9"/>
          <p:cNvSpPr/>
          <p:nvPr/>
        </p:nvSpPr>
        <p:spPr>
          <a:xfrm>
            <a:off x="5947767" y="3807143"/>
            <a:ext cx="5606296" cy="7620"/>
          </a:xfrm>
          <a:prstGeom prst="roundRect">
            <a:avLst>
              <a:gd name="adj" fmla="val 756996"/>
            </a:avLst>
          </a:prstGeom>
          <a:solidFill>
            <a:srgbClr val="194A99"/>
          </a:solidFill>
        </p:spPr>
      </p:sp>
      <p:sp>
        <p:nvSpPr>
          <p:cNvPr id="14" name="Shape 10"/>
          <p:cNvSpPr/>
          <p:nvPr/>
        </p:nvSpPr>
        <p:spPr>
          <a:xfrm>
            <a:off x="4084439" y="3879533"/>
            <a:ext cx="2153722" cy="705922"/>
          </a:xfrm>
          <a:prstGeom prst="roundRect">
            <a:avLst>
              <a:gd name="adj" fmla="val 8171"/>
            </a:avLst>
          </a:prstGeom>
          <a:solidFill>
            <a:srgbClr val="003180"/>
          </a:solidFill>
          <a:ln w="7620">
            <a:solidFill>
              <a:srgbClr val="194A99"/>
            </a:solidFill>
            <a:prstDash val="solid"/>
          </a:ln>
        </p:spPr>
      </p:sp>
      <p:pic>
        <p:nvPicPr>
          <p:cNvPr id="15"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5064681" y="4135874"/>
            <a:ext cx="193119" cy="193119"/>
          </a:xfrm>
          <a:prstGeom prst="rect">
            <a:avLst/>
          </a:prstGeom>
        </p:spPr>
      </p:pic>
      <p:sp>
        <p:nvSpPr>
          <p:cNvPr id="16" name="Text 11"/>
          <p:cNvSpPr/>
          <p:nvPr/>
        </p:nvSpPr>
        <p:spPr>
          <a:xfrm>
            <a:off x="6375440" y="4016812"/>
            <a:ext cx="2279928" cy="214551"/>
          </a:xfrm>
          <a:prstGeom prst="rect">
            <a:avLst/>
          </a:prstGeom>
          <a:noFill/>
        </p:spPr>
        <p:txBody>
          <a:bodyPr wrap="none" lIns="0" tIns="0" rIns="0" bIns="0" rtlCol="0" anchor="t"/>
          <a:lstStyle/>
          <a:p>
            <a:pPr marL="0" indent="0" algn="l">
              <a:lnSpc>
                <a:spcPts val="16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Phase 3: Disaster Prediction</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7" name="Text 12"/>
          <p:cNvSpPr/>
          <p:nvPr/>
        </p:nvSpPr>
        <p:spPr>
          <a:xfrm>
            <a:off x="6375440" y="4277201"/>
            <a:ext cx="3873579" cy="170974"/>
          </a:xfrm>
          <a:prstGeom prst="rect">
            <a:avLst/>
          </a:prstGeom>
          <a:noFill/>
        </p:spPr>
        <p:txBody>
          <a:bodyPr wrap="none" lIns="0" tIns="0" rIns="0" bIns="0" rtlCol="0" anchor="t"/>
          <a:lstStyle/>
          <a:p>
            <a:pPr marL="0" indent="0" algn="l">
              <a:lnSpc>
                <a:spcPts val="13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ML models train to predict disaster likelihood and severity.</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8" name="Shape 13"/>
          <p:cNvSpPr/>
          <p:nvPr/>
        </p:nvSpPr>
        <p:spPr>
          <a:xfrm>
            <a:off x="6306741" y="4581644"/>
            <a:ext cx="5247323" cy="7620"/>
          </a:xfrm>
          <a:prstGeom prst="roundRect">
            <a:avLst>
              <a:gd name="adj" fmla="val 756996"/>
            </a:avLst>
          </a:prstGeom>
          <a:solidFill>
            <a:srgbClr val="194A99"/>
          </a:solidFill>
        </p:spPr>
      </p:sp>
      <p:sp>
        <p:nvSpPr>
          <p:cNvPr id="19" name="Shape 14"/>
          <p:cNvSpPr/>
          <p:nvPr/>
        </p:nvSpPr>
        <p:spPr>
          <a:xfrm>
            <a:off x="3725466" y="4654034"/>
            <a:ext cx="2871668" cy="705922"/>
          </a:xfrm>
          <a:prstGeom prst="roundRect">
            <a:avLst>
              <a:gd name="adj" fmla="val 8171"/>
            </a:avLst>
          </a:prstGeom>
          <a:solidFill>
            <a:srgbClr val="003180"/>
          </a:solidFill>
          <a:ln w="7620">
            <a:solidFill>
              <a:srgbClr val="194A99"/>
            </a:solidFill>
            <a:prstDash val="solid"/>
          </a:ln>
        </p:spPr>
      </p:sp>
      <p:pic>
        <p:nvPicPr>
          <p:cNvPr id="20"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5064681" y="4910376"/>
            <a:ext cx="193119" cy="193119"/>
          </a:xfrm>
          <a:prstGeom prst="rect">
            <a:avLst/>
          </a:prstGeom>
        </p:spPr>
      </p:pic>
      <p:sp>
        <p:nvSpPr>
          <p:cNvPr id="21" name="Text 15"/>
          <p:cNvSpPr/>
          <p:nvPr/>
        </p:nvSpPr>
        <p:spPr>
          <a:xfrm>
            <a:off x="6734413" y="4791313"/>
            <a:ext cx="2491264" cy="214551"/>
          </a:xfrm>
          <a:prstGeom prst="rect">
            <a:avLst/>
          </a:prstGeom>
          <a:noFill/>
        </p:spPr>
        <p:txBody>
          <a:bodyPr wrap="none" lIns="0" tIns="0" rIns="0" bIns="0" rtlCol="0" anchor="t"/>
          <a:lstStyle/>
          <a:p>
            <a:pPr marL="0" indent="0" algn="l">
              <a:lnSpc>
                <a:spcPts val="16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Phase 4: Situation Assessment</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2" name="Text 16"/>
          <p:cNvSpPr/>
          <p:nvPr/>
        </p:nvSpPr>
        <p:spPr>
          <a:xfrm>
            <a:off x="6734413" y="5051703"/>
            <a:ext cx="3534608" cy="170974"/>
          </a:xfrm>
          <a:prstGeom prst="rect">
            <a:avLst/>
          </a:prstGeom>
          <a:noFill/>
        </p:spPr>
        <p:txBody>
          <a:bodyPr wrap="none" lIns="0" tIns="0" rIns="0" bIns="0" rtlCol="0" anchor="t"/>
          <a:lstStyle/>
          <a:p>
            <a:pPr marL="0" indent="0" algn="l">
              <a:lnSpc>
                <a:spcPts val="13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NLP and CV evaluate real-time emergency conditions.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3" name="Shape 17"/>
          <p:cNvSpPr/>
          <p:nvPr/>
        </p:nvSpPr>
        <p:spPr>
          <a:xfrm>
            <a:off x="6665714" y="5356146"/>
            <a:ext cx="4888349" cy="7620"/>
          </a:xfrm>
          <a:prstGeom prst="roundRect">
            <a:avLst>
              <a:gd name="adj" fmla="val 756996"/>
            </a:avLst>
          </a:prstGeom>
          <a:solidFill>
            <a:srgbClr val="194A99"/>
          </a:solidFill>
        </p:spPr>
      </p:sp>
      <p:sp>
        <p:nvSpPr>
          <p:cNvPr id="24" name="Shape 18"/>
          <p:cNvSpPr/>
          <p:nvPr/>
        </p:nvSpPr>
        <p:spPr>
          <a:xfrm>
            <a:off x="3366492" y="5428536"/>
            <a:ext cx="3589496" cy="705922"/>
          </a:xfrm>
          <a:prstGeom prst="roundRect">
            <a:avLst>
              <a:gd name="adj" fmla="val 8171"/>
            </a:avLst>
          </a:prstGeom>
          <a:solidFill>
            <a:srgbClr val="003180"/>
          </a:solidFill>
          <a:ln w="7620">
            <a:solidFill>
              <a:srgbClr val="194A99"/>
            </a:solidFill>
            <a:prstDash val="solid"/>
          </a:ln>
        </p:spPr>
      </p:sp>
      <p:pic>
        <p:nvPicPr>
          <p:cNvPr id="25" name="Image 4" descr="preencoded.png"/>
          <p:cNvPicPr>
            <a:picLocks noChangeAspect="1"/>
          </p:cNvPicPr>
          <p:nvPr/>
        </p:nvPicPr>
        <p:blipFill>
          <a:blip r:embed="rId1">
            <a:extLst>
              <a:ext uri="{96DAC541-7B7A-43D3-8B79-37D633B846F1}">
                <asvg:svgBlip xmlns:asvg="http://schemas.microsoft.com/office/drawing/2016/SVG/main" r:embed="rId6"/>
              </a:ext>
            </a:extLst>
          </a:blip>
          <a:stretch>
            <a:fillRect/>
          </a:stretch>
        </p:blipFill>
        <p:spPr>
          <a:xfrm>
            <a:off x="5064681" y="5684877"/>
            <a:ext cx="193119" cy="193119"/>
          </a:xfrm>
          <a:prstGeom prst="rect">
            <a:avLst/>
          </a:prstGeom>
        </p:spPr>
      </p:pic>
      <p:sp>
        <p:nvSpPr>
          <p:cNvPr id="26" name="Text 19"/>
          <p:cNvSpPr/>
          <p:nvPr/>
        </p:nvSpPr>
        <p:spPr>
          <a:xfrm>
            <a:off x="7093268" y="5565815"/>
            <a:ext cx="2340650" cy="214551"/>
          </a:xfrm>
          <a:prstGeom prst="rect">
            <a:avLst/>
          </a:prstGeom>
          <a:noFill/>
        </p:spPr>
        <p:txBody>
          <a:bodyPr wrap="none" lIns="0" tIns="0" rIns="0" bIns="0" rtlCol="0" anchor="t"/>
          <a:lstStyle/>
          <a:p>
            <a:pPr marL="0" indent="0" algn="l">
              <a:lnSpc>
                <a:spcPts val="16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Phase 5: Resource Allocation</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7" name="Text 20"/>
          <p:cNvSpPr/>
          <p:nvPr/>
        </p:nvSpPr>
        <p:spPr>
          <a:xfrm>
            <a:off x="7093268" y="5826204"/>
            <a:ext cx="3710226" cy="170974"/>
          </a:xfrm>
          <a:prstGeom prst="rect">
            <a:avLst/>
          </a:prstGeom>
          <a:noFill/>
        </p:spPr>
        <p:txBody>
          <a:bodyPr wrap="none" lIns="0" tIns="0" rIns="0" bIns="0" rtlCol="0" anchor="t"/>
          <a:lstStyle/>
          <a:p>
            <a:pPr marL="0" indent="0" algn="l">
              <a:lnSpc>
                <a:spcPts val="13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Reinforcement learning optimizes resource deployment.</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28" name="Shape 21"/>
          <p:cNvSpPr/>
          <p:nvPr/>
        </p:nvSpPr>
        <p:spPr>
          <a:xfrm>
            <a:off x="7024568" y="6130647"/>
            <a:ext cx="4529495" cy="7620"/>
          </a:xfrm>
          <a:prstGeom prst="roundRect">
            <a:avLst>
              <a:gd name="adj" fmla="val 756996"/>
            </a:avLst>
          </a:prstGeom>
          <a:solidFill>
            <a:srgbClr val="194A99"/>
          </a:solidFill>
        </p:spPr>
      </p:sp>
      <p:sp>
        <p:nvSpPr>
          <p:cNvPr id="29" name="Shape 22"/>
          <p:cNvSpPr/>
          <p:nvPr/>
        </p:nvSpPr>
        <p:spPr>
          <a:xfrm>
            <a:off x="3007638" y="6203037"/>
            <a:ext cx="4307443" cy="705922"/>
          </a:xfrm>
          <a:prstGeom prst="roundRect">
            <a:avLst>
              <a:gd name="adj" fmla="val 8171"/>
            </a:avLst>
          </a:prstGeom>
          <a:solidFill>
            <a:srgbClr val="003180"/>
          </a:solidFill>
          <a:ln w="7620">
            <a:solidFill>
              <a:srgbClr val="194A99"/>
            </a:solidFill>
            <a:prstDash val="solid"/>
          </a:ln>
        </p:spPr>
      </p:sp>
      <p:pic>
        <p:nvPicPr>
          <p:cNvPr id="30" name="Image 5" descr="preencoded.png"/>
          <p:cNvPicPr>
            <a:picLocks noChangeAspect="1"/>
          </p:cNvPicPr>
          <p:nvPr/>
        </p:nvPicPr>
        <p:blipFill>
          <a:blip r:embed="rId1">
            <a:extLst>
              <a:ext uri="{96DAC541-7B7A-43D3-8B79-37D633B846F1}">
                <asvg:svgBlip xmlns:asvg="http://schemas.microsoft.com/office/drawing/2016/SVG/main" r:embed="rId7"/>
              </a:ext>
            </a:extLst>
          </a:blip>
          <a:stretch>
            <a:fillRect/>
          </a:stretch>
        </p:blipFill>
        <p:spPr>
          <a:xfrm>
            <a:off x="5064800" y="6459379"/>
            <a:ext cx="193119" cy="193119"/>
          </a:xfrm>
          <a:prstGeom prst="rect">
            <a:avLst/>
          </a:prstGeom>
        </p:spPr>
      </p:pic>
      <p:sp>
        <p:nvSpPr>
          <p:cNvPr id="31" name="Text 23"/>
          <p:cNvSpPr/>
          <p:nvPr/>
        </p:nvSpPr>
        <p:spPr>
          <a:xfrm>
            <a:off x="7452360" y="6340316"/>
            <a:ext cx="3034665" cy="214551"/>
          </a:xfrm>
          <a:prstGeom prst="rect">
            <a:avLst/>
          </a:prstGeom>
          <a:noFill/>
        </p:spPr>
        <p:txBody>
          <a:bodyPr wrap="none" lIns="0" tIns="0" rIns="0" bIns="0" rtlCol="0" anchor="t"/>
          <a:lstStyle/>
          <a:p>
            <a:pPr marL="0" indent="0" algn="l">
              <a:lnSpc>
                <a:spcPts val="1650"/>
              </a:lnSpc>
              <a:buNone/>
            </a:pPr>
            <a:r>
              <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Phase 6: Communication &amp; Feedback</a:t>
            </a:r>
            <a:endParaRPr lang="en-US"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32" name="Text 24"/>
          <p:cNvSpPr/>
          <p:nvPr/>
        </p:nvSpPr>
        <p:spPr>
          <a:xfrm>
            <a:off x="7452360" y="6600706"/>
            <a:ext cx="3337798" cy="170974"/>
          </a:xfrm>
          <a:prstGeom prst="rect">
            <a:avLst/>
          </a:prstGeom>
          <a:noFill/>
        </p:spPr>
        <p:txBody>
          <a:bodyPr wrap="none" lIns="0" tIns="0" rIns="0" bIns="0" rtlCol="0" anchor="t"/>
          <a:lstStyle/>
          <a:p>
            <a:pPr marL="0" indent="0" algn="l">
              <a:lnSpc>
                <a:spcPts val="13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Alerts, guidance, and continuous model retraining.</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2141220" y="949960"/>
            <a:ext cx="2882265" cy="281305"/>
          </a:xfrm>
          <a:prstGeom prst="roundRect">
            <a:avLst>
              <a:gd name="adj" fmla="val 20069"/>
            </a:avLst>
          </a:prstGeom>
          <a:solidFill>
            <a:srgbClr val="001D4D"/>
          </a:solidFill>
        </p:spPr>
      </p:sp>
      <p:sp>
        <p:nvSpPr>
          <p:cNvPr id="3" name="Text 1"/>
          <p:cNvSpPr/>
          <p:nvPr/>
        </p:nvSpPr>
        <p:spPr>
          <a:xfrm>
            <a:off x="2141101" y="986711"/>
            <a:ext cx="2032278" cy="180856"/>
          </a:xfrm>
          <a:prstGeom prst="rect">
            <a:avLst/>
          </a:prstGeom>
          <a:noFill/>
        </p:spPr>
        <p:txBody>
          <a:bodyPr wrap="none" lIns="0" tIns="0" rIns="0" bIns="0" rtlCol="0" anchor="t"/>
          <a:lstStyle/>
          <a:p>
            <a:pPr marL="0" indent="0" algn="l">
              <a:lnSpc>
                <a:spcPts val="1400"/>
              </a:lnSpc>
              <a:buNone/>
            </a:pPr>
            <a:r>
              <a:rPr lang="en-US" sz="14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FUNCTIONAL REQUIREMENTS</a:t>
            </a:r>
            <a:endParaRPr lang="en-US" sz="14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4" name="Text 2"/>
          <p:cNvSpPr/>
          <p:nvPr/>
        </p:nvSpPr>
        <p:spPr>
          <a:xfrm>
            <a:off x="2040255" y="1776214"/>
            <a:ext cx="5828348" cy="420410"/>
          </a:xfrm>
          <a:prstGeom prst="rect">
            <a:avLst/>
          </a:prstGeom>
          <a:noFill/>
        </p:spPr>
        <p:txBody>
          <a:bodyPr wrap="none" lIns="0" tIns="0" rIns="0" bIns="0" rtlCol="0" anchor="t"/>
          <a:lstStyle/>
          <a:p>
            <a:pPr marL="0" indent="0" algn="l">
              <a:lnSpc>
                <a:spcPts val="3300"/>
              </a:lnSpc>
              <a:buNone/>
            </a:pPr>
            <a:r>
              <a:rPr lang="en-US" sz="32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Core Capabilities of AGENT-RESCUE</a:t>
            </a:r>
            <a:endParaRPr lang="en-US" sz="32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5" name="Image 0" descr="preencoded.png"/>
          <p:cNvPicPr>
            <a:picLocks noChangeAspect="1"/>
          </p:cNvPicPr>
          <p:nvPr>
            <p:custDataLst>
              <p:tags r:id="rId1"/>
            </p:custDataLst>
          </p:nvPr>
        </p:nvPicPr>
        <p:blipFill>
          <a:blip r:embed="rId2"/>
          <a:stretch>
            <a:fillRect/>
          </a:stretch>
        </p:blipFill>
        <p:spPr>
          <a:xfrm>
            <a:off x="1507490" y="2804676"/>
            <a:ext cx="911662" cy="911662"/>
          </a:xfrm>
          <a:prstGeom prst="rect">
            <a:avLst/>
          </a:prstGeom>
        </p:spPr>
      </p:pic>
      <p:sp>
        <p:nvSpPr>
          <p:cNvPr id="6" name="Text 3"/>
          <p:cNvSpPr/>
          <p:nvPr>
            <p:custDataLst>
              <p:tags r:id="rId3"/>
            </p:custDataLst>
          </p:nvPr>
        </p:nvSpPr>
        <p:spPr>
          <a:xfrm>
            <a:off x="2701925" y="2788920"/>
            <a:ext cx="2011680" cy="788035"/>
          </a:xfrm>
          <a:prstGeom prst="rect">
            <a:avLst/>
          </a:prstGeom>
          <a:noFill/>
        </p:spPr>
        <p:txBody>
          <a:bodyPr wrap="square" lIns="0" tIns="0" rIns="0" bIns="0" rtlCol="0" anchor="t"/>
          <a:lstStyle/>
          <a:p>
            <a:pPr marL="0" indent="0" algn="l">
              <a:lnSpc>
                <a:spcPts val="2050"/>
              </a:lnSpc>
              <a:buNone/>
            </a:pPr>
            <a:r>
              <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Disaster Data Collection &amp; Management</a:t>
            </a:r>
            <a:endPar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7" name="Text 4"/>
          <p:cNvSpPr/>
          <p:nvPr>
            <p:custDataLst>
              <p:tags r:id="rId4"/>
            </p:custDataLst>
          </p:nvPr>
        </p:nvSpPr>
        <p:spPr>
          <a:xfrm>
            <a:off x="2701290" y="3984625"/>
            <a:ext cx="1904365" cy="2714625"/>
          </a:xfrm>
          <a:prstGeom prst="rect">
            <a:avLst/>
          </a:prstGeom>
          <a:noFill/>
        </p:spPr>
        <p:txBody>
          <a:bodyPr wrap="square" lIns="0" tIns="0" rIns="0" bIns="0" rtlCol="0" anchor="t"/>
          <a:lstStyle/>
          <a:p>
            <a:pPr marL="0" indent="0" algn="l">
              <a:lnSpc>
                <a:spcPts val="175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Collects and stores disaster-related data from various sources (historical data, weather APIs, emergency reports, sensor data) in both structured and unstructured formats.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8" name="Image 1" descr="preencoded.png"/>
          <p:cNvPicPr>
            <a:picLocks noChangeAspect="1"/>
          </p:cNvPicPr>
          <p:nvPr>
            <p:custDataLst>
              <p:tags r:id="rId5"/>
            </p:custDataLst>
          </p:nvPr>
        </p:nvPicPr>
        <p:blipFill>
          <a:blip r:embed="rId6"/>
          <a:stretch>
            <a:fillRect/>
          </a:stretch>
        </p:blipFill>
        <p:spPr>
          <a:xfrm>
            <a:off x="4713446" y="2788801"/>
            <a:ext cx="911662" cy="911662"/>
          </a:xfrm>
          <a:prstGeom prst="rect">
            <a:avLst/>
          </a:prstGeom>
        </p:spPr>
      </p:pic>
      <p:sp>
        <p:nvSpPr>
          <p:cNvPr id="9" name="Text 5"/>
          <p:cNvSpPr/>
          <p:nvPr>
            <p:custDataLst>
              <p:tags r:id="rId7"/>
            </p:custDataLst>
          </p:nvPr>
        </p:nvSpPr>
        <p:spPr>
          <a:xfrm>
            <a:off x="5768340" y="2788801"/>
            <a:ext cx="1475184" cy="788313"/>
          </a:xfrm>
          <a:prstGeom prst="rect">
            <a:avLst/>
          </a:prstGeom>
          <a:noFill/>
        </p:spPr>
        <p:txBody>
          <a:bodyPr wrap="square" lIns="0" tIns="0" rIns="0" bIns="0" rtlCol="0" anchor="t"/>
          <a:lstStyle/>
          <a:p>
            <a:pPr marL="0" indent="0" algn="l">
              <a:lnSpc>
                <a:spcPts val="2050"/>
              </a:lnSpc>
              <a:buNone/>
            </a:pPr>
            <a:r>
              <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Disaster Prediction Module</a:t>
            </a:r>
            <a:endPar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0" name="Text 6"/>
          <p:cNvSpPr/>
          <p:nvPr>
            <p:custDataLst>
              <p:tags r:id="rId8"/>
            </p:custDataLst>
          </p:nvPr>
        </p:nvSpPr>
        <p:spPr>
          <a:xfrm>
            <a:off x="5650865" y="3984625"/>
            <a:ext cx="1746250" cy="2262505"/>
          </a:xfrm>
          <a:prstGeom prst="rect">
            <a:avLst/>
          </a:prstGeom>
          <a:noFill/>
        </p:spPr>
        <p:txBody>
          <a:bodyPr wrap="square" lIns="0" tIns="0" rIns="0" bIns="0" rtlCol="0" anchor="t"/>
          <a:lstStyle/>
          <a:p>
            <a:pPr marL="0" indent="0" algn="l">
              <a:lnSpc>
                <a:spcPts val="175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Analyzes incoming data with machine learning models to predict disaster probability, type, and severity, generating risk scores and early warning alerts.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11" name="Image 2" descr="preencoded.png"/>
          <p:cNvPicPr>
            <a:picLocks noChangeAspect="1"/>
          </p:cNvPicPr>
          <p:nvPr>
            <p:custDataLst>
              <p:tags r:id="rId9"/>
            </p:custDataLst>
          </p:nvPr>
        </p:nvPicPr>
        <p:blipFill>
          <a:blip r:embed="rId10"/>
          <a:stretch>
            <a:fillRect/>
          </a:stretch>
        </p:blipFill>
        <p:spPr>
          <a:xfrm>
            <a:off x="7386757" y="2788801"/>
            <a:ext cx="911662" cy="911662"/>
          </a:xfrm>
          <a:prstGeom prst="rect">
            <a:avLst/>
          </a:prstGeom>
        </p:spPr>
      </p:pic>
      <p:sp>
        <p:nvSpPr>
          <p:cNvPr id="12" name="Text 7"/>
          <p:cNvSpPr/>
          <p:nvPr>
            <p:custDataLst>
              <p:tags r:id="rId11"/>
            </p:custDataLst>
          </p:nvPr>
        </p:nvSpPr>
        <p:spPr>
          <a:xfrm>
            <a:off x="8441650" y="2788801"/>
            <a:ext cx="1475184" cy="788313"/>
          </a:xfrm>
          <a:prstGeom prst="rect">
            <a:avLst/>
          </a:prstGeom>
          <a:noFill/>
        </p:spPr>
        <p:txBody>
          <a:bodyPr wrap="square" lIns="0" tIns="0" rIns="0" bIns="0" rtlCol="0" anchor="t"/>
          <a:lstStyle/>
          <a:p>
            <a:pPr marL="0" indent="0" algn="l">
              <a:lnSpc>
                <a:spcPts val="2050"/>
              </a:lnSpc>
              <a:buNone/>
            </a:pPr>
            <a:r>
              <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Citizen Assistance Module</a:t>
            </a:r>
            <a:endPar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3" name="Text 8"/>
          <p:cNvSpPr/>
          <p:nvPr>
            <p:custDataLst>
              <p:tags r:id="rId12"/>
            </p:custDataLst>
          </p:nvPr>
        </p:nvSpPr>
        <p:spPr>
          <a:xfrm>
            <a:off x="8441690" y="3984625"/>
            <a:ext cx="1764030" cy="2035810"/>
          </a:xfrm>
          <a:prstGeom prst="rect">
            <a:avLst/>
          </a:prstGeom>
          <a:noFill/>
        </p:spPr>
        <p:txBody>
          <a:bodyPr wrap="square" lIns="0" tIns="0" rIns="0" bIns="0" rtlCol="0" anchor="t"/>
          <a:lstStyle/>
          <a:p>
            <a:pPr marL="0" indent="0" algn="l">
              <a:lnSpc>
                <a:spcPts val="175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Offers a chatbot interface for citizens to receive emergency guidance, first-aid instructions, shelter locations, and safety measures.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14" name="Image 3" descr="preencoded.png"/>
          <p:cNvPicPr>
            <a:picLocks noChangeAspect="1"/>
          </p:cNvPicPr>
          <p:nvPr>
            <p:custDataLst>
              <p:tags r:id="rId13"/>
            </p:custDataLst>
          </p:nvPr>
        </p:nvPicPr>
        <p:blipFill>
          <a:blip r:embed="rId14"/>
          <a:stretch>
            <a:fillRect/>
          </a:stretch>
        </p:blipFill>
        <p:spPr>
          <a:xfrm>
            <a:off x="10060067" y="2788801"/>
            <a:ext cx="911662" cy="911662"/>
          </a:xfrm>
          <a:prstGeom prst="rect">
            <a:avLst/>
          </a:prstGeom>
        </p:spPr>
      </p:pic>
      <p:sp>
        <p:nvSpPr>
          <p:cNvPr id="15" name="Text 9"/>
          <p:cNvSpPr/>
          <p:nvPr>
            <p:custDataLst>
              <p:tags r:id="rId15"/>
            </p:custDataLst>
          </p:nvPr>
        </p:nvSpPr>
        <p:spPr>
          <a:xfrm>
            <a:off x="11115040" y="2788920"/>
            <a:ext cx="1959610" cy="788035"/>
          </a:xfrm>
          <a:prstGeom prst="rect">
            <a:avLst/>
          </a:prstGeom>
          <a:noFill/>
        </p:spPr>
        <p:txBody>
          <a:bodyPr wrap="square" lIns="0" tIns="0" rIns="0" bIns="0" rtlCol="0" anchor="t"/>
          <a:lstStyle/>
          <a:p>
            <a:pPr marL="0" indent="0" algn="l">
              <a:lnSpc>
                <a:spcPts val="2050"/>
              </a:lnSpc>
              <a:buNone/>
            </a:pPr>
            <a:r>
              <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Explainable AI &amp; Decision Transpare</a:t>
            </a:r>
            <a:r>
              <a:rPr lang="en-IN" alt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n</a:t>
            </a:r>
            <a:r>
              <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cy</a:t>
            </a:r>
            <a:endParaRPr lang="en-US" sz="20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
        <p:nvSpPr>
          <p:cNvPr id="16" name="Text 10"/>
          <p:cNvSpPr/>
          <p:nvPr>
            <p:custDataLst>
              <p:tags r:id="rId16"/>
            </p:custDataLst>
          </p:nvPr>
        </p:nvSpPr>
        <p:spPr>
          <a:xfrm>
            <a:off x="11115040" y="4114800"/>
            <a:ext cx="2018665" cy="1905635"/>
          </a:xfrm>
          <a:prstGeom prst="rect">
            <a:avLst/>
          </a:prstGeom>
          <a:noFill/>
        </p:spPr>
        <p:txBody>
          <a:bodyPr wrap="square" lIns="0" tIns="0" rIns="0" bIns="0" rtlCol="0" anchor="t"/>
          <a:lstStyle/>
          <a:p>
            <a:pPr marL="0" indent="0" algn="l">
              <a:lnSpc>
                <a:spcPts val="175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Provides clear explanations for predictions and allocation decisions, ensuring transparency and accountability in critical situations.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9383" y="714375"/>
            <a:ext cx="2960132" cy="404574"/>
          </a:xfrm>
          <a:prstGeom prst="roundRect">
            <a:avLst>
              <a:gd name="adj" fmla="val 18496"/>
            </a:avLst>
          </a:prstGeom>
          <a:solidFill>
            <a:srgbClr val="001D4D"/>
          </a:solidFill>
        </p:spPr>
      </p:sp>
      <p:sp>
        <p:nvSpPr>
          <p:cNvPr id="3" name="Text 1"/>
          <p:cNvSpPr/>
          <p:nvPr/>
        </p:nvSpPr>
        <p:spPr>
          <a:xfrm>
            <a:off x="912971" y="781169"/>
            <a:ext cx="2692956" cy="270986"/>
          </a:xfrm>
          <a:prstGeom prst="rect">
            <a:avLst/>
          </a:prstGeom>
          <a:noFill/>
        </p:spPr>
        <p:txBody>
          <a:bodyPr wrap="none" lIns="0" tIns="0" rIns="0" bIns="0" rtlCol="0" anchor="t"/>
          <a:lstStyle/>
          <a:p>
            <a:pPr marL="0" indent="0" algn="l">
              <a:lnSpc>
                <a:spcPts val="2100"/>
              </a:lnSpc>
              <a:buNone/>
            </a:pPr>
            <a:r>
              <a:rPr lang="en-US" sz="14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FUNCTIONAL REQUIREMENTS</a:t>
            </a:r>
            <a:endParaRPr lang="en-US" sz="1400" dirty="0"/>
          </a:p>
        </p:txBody>
      </p:sp>
      <p:sp>
        <p:nvSpPr>
          <p:cNvPr id="4" name="Text 2"/>
          <p:cNvSpPr/>
          <p:nvPr/>
        </p:nvSpPr>
        <p:spPr>
          <a:xfrm>
            <a:off x="779383" y="1199317"/>
            <a:ext cx="7627025" cy="556736"/>
          </a:xfrm>
          <a:prstGeom prst="rect">
            <a:avLst/>
          </a:prstGeom>
          <a:noFill/>
        </p:spPr>
        <p:txBody>
          <a:bodyPr wrap="none" lIns="0" tIns="0" rIns="0" bIns="0" rtlCol="0" anchor="t"/>
          <a:lstStyle/>
          <a:p>
            <a:pPr marL="0" indent="0" algn="l">
              <a:lnSpc>
                <a:spcPts val="4350"/>
              </a:lnSpc>
              <a:buNone/>
            </a:pPr>
            <a:r>
              <a:rPr lang="en-US" sz="35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Advanced Functional Requirements</a:t>
            </a:r>
            <a:endParaRPr lang="en-US" sz="3500" dirty="0"/>
          </a:p>
        </p:txBody>
      </p:sp>
      <p:sp>
        <p:nvSpPr>
          <p:cNvPr id="5" name="Shape 3"/>
          <p:cNvSpPr/>
          <p:nvPr/>
        </p:nvSpPr>
        <p:spPr>
          <a:xfrm>
            <a:off x="779383" y="2391370"/>
            <a:ext cx="6435328" cy="2294453"/>
          </a:xfrm>
          <a:prstGeom prst="roundRect">
            <a:avLst>
              <a:gd name="adj" fmla="val 6376"/>
            </a:avLst>
          </a:prstGeom>
          <a:solidFill>
            <a:srgbClr val="09151A">
              <a:alpha val="95000"/>
            </a:srgbClr>
          </a:solidFill>
        </p:spPr>
      </p:sp>
      <p:sp>
        <p:nvSpPr>
          <p:cNvPr id="6" name="Shape 4"/>
          <p:cNvSpPr/>
          <p:nvPr/>
        </p:nvSpPr>
        <p:spPr>
          <a:xfrm>
            <a:off x="779383" y="2360890"/>
            <a:ext cx="6435328" cy="121920"/>
          </a:xfrm>
          <a:prstGeom prst="roundRect">
            <a:avLst>
              <a:gd name="adj" fmla="val 76720"/>
            </a:avLst>
          </a:prstGeom>
          <a:solidFill>
            <a:srgbClr val="609DFF"/>
          </a:solidFill>
        </p:spPr>
      </p:sp>
      <p:sp>
        <p:nvSpPr>
          <p:cNvPr id="7" name="Shape 5"/>
          <p:cNvSpPr/>
          <p:nvPr/>
        </p:nvSpPr>
        <p:spPr>
          <a:xfrm>
            <a:off x="3663017" y="2057400"/>
            <a:ext cx="668060" cy="668060"/>
          </a:xfrm>
          <a:prstGeom prst="roundRect">
            <a:avLst>
              <a:gd name="adj" fmla="val 136874"/>
            </a:avLst>
          </a:prstGeom>
          <a:solidFill>
            <a:srgbClr val="609DFF"/>
          </a:solidFill>
        </p:spPr>
      </p:sp>
      <p:pic>
        <p:nvPicPr>
          <p:cNvPr id="8"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863400" y="2257782"/>
            <a:ext cx="267176" cy="267176"/>
          </a:xfrm>
          <a:prstGeom prst="rect">
            <a:avLst/>
          </a:prstGeom>
        </p:spPr>
      </p:pic>
      <p:sp>
        <p:nvSpPr>
          <p:cNvPr id="9" name="Text 6"/>
          <p:cNvSpPr/>
          <p:nvPr/>
        </p:nvSpPr>
        <p:spPr>
          <a:xfrm>
            <a:off x="1032510" y="2948107"/>
            <a:ext cx="2887980" cy="347901"/>
          </a:xfrm>
          <a:prstGeom prst="rect">
            <a:avLst/>
          </a:prstGeom>
          <a:noFill/>
        </p:spPr>
        <p:txBody>
          <a:bodyPr wrap="none" lIns="0" tIns="0" rIns="0" bIns="0" rtlCol="0" anchor="t"/>
          <a:lstStyle/>
          <a:p>
            <a:pPr marL="0" indent="0" algn="l">
              <a:lnSpc>
                <a:spcPts val="2700"/>
              </a:lnSpc>
              <a:buNone/>
            </a:pPr>
            <a:r>
              <a:rPr lang="en-US" sz="21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Situation Assessment</a:t>
            </a:r>
            <a:endParaRPr lang="en-US" sz="2150" dirty="0"/>
          </a:p>
        </p:txBody>
      </p:sp>
      <p:sp>
        <p:nvSpPr>
          <p:cNvPr id="10" name="Text 7"/>
          <p:cNvSpPr/>
          <p:nvPr/>
        </p:nvSpPr>
        <p:spPr>
          <a:xfrm>
            <a:off x="1032510" y="3416498"/>
            <a:ext cx="5929074" cy="1016198"/>
          </a:xfrm>
          <a:prstGeom prst="rect">
            <a:avLst/>
          </a:prstGeom>
          <a:noFill/>
        </p:spPr>
        <p:txBody>
          <a:bodyPr wrap="square" lIns="0" tIns="0" rIns="0" bIns="0" rtlCol="0" anchor="t"/>
          <a:lstStyle/>
          <a:p>
            <a:pPr marL="0" indent="0" algn="l">
              <a:lnSpc>
                <a:spcPts val="265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Processes real-time emergency messages via NLP and analyzes images with Computer Vision to gauge urgency and impact.</a:t>
            </a:r>
            <a:endParaRPr lang="en-US" sz="1750" dirty="0"/>
          </a:p>
        </p:txBody>
      </p:sp>
      <p:sp>
        <p:nvSpPr>
          <p:cNvPr id="11" name="Shape 8"/>
          <p:cNvSpPr/>
          <p:nvPr/>
        </p:nvSpPr>
        <p:spPr>
          <a:xfrm>
            <a:off x="7415570" y="2391370"/>
            <a:ext cx="6435447" cy="2294453"/>
          </a:xfrm>
          <a:prstGeom prst="roundRect">
            <a:avLst>
              <a:gd name="adj" fmla="val 6376"/>
            </a:avLst>
          </a:prstGeom>
          <a:solidFill>
            <a:srgbClr val="09151A">
              <a:alpha val="95000"/>
            </a:srgbClr>
          </a:solidFill>
        </p:spPr>
      </p:sp>
      <p:sp>
        <p:nvSpPr>
          <p:cNvPr id="12" name="Shape 9"/>
          <p:cNvSpPr/>
          <p:nvPr/>
        </p:nvSpPr>
        <p:spPr>
          <a:xfrm>
            <a:off x="7415570" y="2360890"/>
            <a:ext cx="6435447" cy="121920"/>
          </a:xfrm>
          <a:prstGeom prst="roundRect">
            <a:avLst>
              <a:gd name="adj" fmla="val 76720"/>
            </a:avLst>
          </a:prstGeom>
          <a:solidFill>
            <a:srgbClr val="609DFF"/>
          </a:solidFill>
        </p:spPr>
      </p:sp>
      <p:sp>
        <p:nvSpPr>
          <p:cNvPr id="13" name="Shape 10"/>
          <p:cNvSpPr/>
          <p:nvPr/>
        </p:nvSpPr>
        <p:spPr>
          <a:xfrm>
            <a:off x="10299204" y="2057400"/>
            <a:ext cx="668060" cy="668060"/>
          </a:xfrm>
          <a:prstGeom prst="roundRect">
            <a:avLst>
              <a:gd name="adj" fmla="val 136874"/>
            </a:avLst>
          </a:prstGeom>
          <a:solidFill>
            <a:srgbClr val="609DFF"/>
          </a:solidFill>
        </p:spPr>
      </p:sp>
      <p:pic>
        <p:nvPicPr>
          <p:cNvPr id="14"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10499586" y="2257782"/>
            <a:ext cx="267176" cy="267176"/>
          </a:xfrm>
          <a:prstGeom prst="rect">
            <a:avLst/>
          </a:prstGeom>
        </p:spPr>
      </p:pic>
      <p:sp>
        <p:nvSpPr>
          <p:cNvPr id="15" name="Text 11"/>
          <p:cNvSpPr/>
          <p:nvPr/>
        </p:nvSpPr>
        <p:spPr>
          <a:xfrm>
            <a:off x="7668697" y="2948107"/>
            <a:ext cx="3071217" cy="347901"/>
          </a:xfrm>
          <a:prstGeom prst="rect">
            <a:avLst/>
          </a:prstGeom>
          <a:noFill/>
        </p:spPr>
        <p:txBody>
          <a:bodyPr wrap="none" lIns="0" tIns="0" rIns="0" bIns="0" rtlCol="0" anchor="t"/>
          <a:lstStyle/>
          <a:p>
            <a:pPr marL="0" indent="0" algn="l">
              <a:lnSpc>
                <a:spcPts val="2700"/>
              </a:lnSpc>
              <a:buNone/>
            </a:pPr>
            <a:r>
              <a:rPr lang="en-US" sz="21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Resource Optimization</a:t>
            </a:r>
            <a:endParaRPr lang="en-US" sz="2150" dirty="0"/>
          </a:p>
        </p:txBody>
      </p:sp>
      <p:sp>
        <p:nvSpPr>
          <p:cNvPr id="16" name="Text 12"/>
          <p:cNvSpPr/>
          <p:nvPr/>
        </p:nvSpPr>
        <p:spPr>
          <a:xfrm>
            <a:off x="7668697" y="3416498"/>
            <a:ext cx="5929193" cy="1016198"/>
          </a:xfrm>
          <a:prstGeom prst="rect">
            <a:avLst/>
          </a:prstGeom>
          <a:noFill/>
        </p:spPr>
        <p:txBody>
          <a:bodyPr wrap="square" lIns="0" tIns="0" rIns="0" bIns="0" rtlCol="0" anchor="t"/>
          <a:lstStyle/>
          <a:p>
            <a:pPr marL="0" indent="0" algn="l">
              <a:lnSpc>
                <a:spcPts val="265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Intelligently allocates emergency resources (ambulances, fire trucks, hospitals) using reinforcement learning.</a:t>
            </a:r>
            <a:endParaRPr lang="en-US" sz="1750" dirty="0"/>
          </a:p>
        </p:txBody>
      </p:sp>
      <p:sp>
        <p:nvSpPr>
          <p:cNvPr id="17" name="Shape 13"/>
          <p:cNvSpPr/>
          <p:nvPr/>
        </p:nvSpPr>
        <p:spPr>
          <a:xfrm>
            <a:off x="779383" y="5220653"/>
            <a:ext cx="6435328" cy="2294453"/>
          </a:xfrm>
          <a:prstGeom prst="roundRect">
            <a:avLst>
              <a:gd name="adj" fmla="val 6376"/>
            </a:avLst>
          </a:prstGeom>
          <a:solidFill>
            <a:srgbClr val="09151A">
              <a:alpha val="95000"/>
            </a:srgbClr>
          </a:solidFill>
        </p:spPr>
      </p:sp>
      <p:sp>
        <p:nvSpPr>
          <p:cNvPr id="18" name="Shape 14"/>
          <p:cNvSpPr/>
          <p:nvPr/>
        </p:nvSpPr>
        <p:spPr>
          <a:xfrm>
            <a:off x="779383" y="5190173"/>
            <a:ext cx="6435328" cy="121920"/>
          </a:xfrm>
          <a:prstGeom prst="roundRect">
            <a:avLst>
              <a:gd name="adj" fmla="val 76720"/>
            </a:avLst>
          </a:prstGeom>
          <a:solidFill>
            <a:srgbClr val="609DFF"/>
          </a:solidFill>
        </p:spPr>
      </p:sp>
      <p:sp>
        <p:nvSpPr>
          <p:cNvPr id="19" name="Shape 15"/>
          <p:cNvSpPr/>
          <p:nvPr/>
        </p:nvSpPr>
        <p:spPr>
          <a:xfrm>
            <a:off x="3663017" y="4886682"/>
            <a:ext cx="668060" cy="668060"/>
          </a:xfrm>
          <a:prstGeom prst="roundRect">
            <a:avLst>
              <a:gd name="adj" fmla="val 136874"/>
            </a:avLst>
          </a:prstGeom>
          <a:solidFill>
            <a:srgbClr val="609DFF"/>
          </a:solidFill>
        </p:spPr>
      </p:sp>
      <p:pic>
        <p:nvPicPr>
          <p:cNvPr id="20"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3863400" y="5087064"/>
            <a:ext cx="267176" cy="267176"/>
          </a:xfrm>
          <a:prstGeom prst="rect">
            <a:avLst/>
          </a:prstGeom>
        </p:spPr>
      </p:pic>
      <p:sp>
        <p:nvSpPr>
          <p:cNvPr id="21" name="Text 16"/>
          <p:cNvSpPr/>
          <p:nvPr/>
        </p:nvSpPr>
        <p:spPr>
          <a:xfrm>
            <a:off x="1032510" y="5777389"/>
            <a:ext cx="3617119" cy="347901"/>
          </a:xfrm>
          <a:prstGeom prst="rect">
            <a:avLst/>
          </a:prstGeom>
          <a:noFill/>
        </p:spPr>
        <p:txBody>
          <a:bodyPr wrap="none" lIns="0" tIns="0" rIns="0" bIns="0" rtlCol="0" anchor="t"/>
          <a:lstStyle/>
          <a:p>
            <a:pPr marL="0" indent="0" algn="l">
              <a:lnSpc>
                <a:spcPts val="2700"/>
              </a:lnSpc>
              <a:buNone/>
            </a:pPr>
            <a:r>
              <a:rPr lang="en-US" sz="21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Real-Time Communication</a:t>
            </a:r>
            <a:endParaRPr lang="en-US" sz="2150" dirty="0"/>
          </a:p>
        </p:txBody>
      </p:sp>
      <p:sp>
        <p:nvSpPr>
          <p:cNvPr id="22" name="Text 17"/>
          <p:cNvSpPr/>
          <p:nvPr/>
        </p:nvSpPr>
        <p:spPr>
          <a:xfrm>
            <a:off x="1032510" y="6245781"/>
            <a:ext cx="5929074" cy="1016198"/>
          </a:xfrm>
          <a:prstGeom prst="rect">
            <a:avLst/>
          </a:prstGeom>
          <a:noFill/>
        </p:spPr>
        <p:txBody>
          <a:bodyPr wrap="square" lIns="0" tIns="0" rIns="0" bIns="0" rtlCol="0" anchor="t"/>
          <a:lstStyle/>
          <a:p>
            <a:pPr marL="0" indent="0" algn="l">
              <a:lnSpc>
                <a:spcPts val="265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Delivers instant alerts and notifications to authorities, hospitals, NGOs, and citizens through dashboards and messaging.</a:t>
            </a:r>
            <a:endParaRPr lang="en-US" sz="1750" dirty="0"/>
          </a:p>
        </p:txBody>
      </p:sp>
      <p:sp>
        <p:nvSpPr>
          <p:cNvPr id="23" name="Shape 18"/>
          <p:cNvSpPr/>
          <p:nvPr/>
        </p:nvSpPr>
        <p:spPr>
          <a:xfrm>
            <a:off x="7415570" y="5220653"/>
            <a:ext cx="6435447" cy="2294453"/>
          </a:xfrm>
          <a:prstGeom prst="roundRect">
            <a:avLst>
              <a:gd name="adj" fmla="val 6376"/>
            </a:avLst>
          </a:prstGeom>
          <a:solidFill>
            <a:srgbClr val="09151A">
              <a:alpha val="95000"/>
            </a:srgbClr>
          </a:solidFill>
        </p:spPr>
      </p:sp>
      <p:sp>
        <p:nvSpPr>
          <p:cNvPr id="24" name="Shape 19"/>
          <p:cNvSpPr/>
          <p:nvPr/>
        </p:nvSpPr>
        <p:spPr>
          <a:xfrm>
            <a:off x="7415570" y="5190173"/>
            <a:ext cx="6435447" cy="121920"/>
          </a:xfrm>
          <a:prstGeom prst="roundRect">
            <a:avLst>
              <a:gd name="adj" fmla="val 76720"/>
            </a:avLst>
          </a:prstGeom>
          <a:solidFill>
            <a:srgbClr val="609DFF"/>
          </a:solidFill>
        </p:spPr>
      </p:sp>
      <p:sp>
        <p:nvSpPr>
          <p:cNvPr id="25" name="Shape 20"/>
          <p:cNvSpPr/>
          <p:nvPr/>
        </p:nvSpPr>
        <p:spPr>
          <a:xfrm>
            <a:off x="10299204" y="4886682"/>
            <a:ext cx="668060" cy="668060"/>
          </a:xfrm>
          <a:prstGeom prst="roundRect">
            <a:avLst>
              <a:gd name="adj" fmla="val 136874"/>
            </a:avLst>
          </a:prstGeom>
          <a:solidFill>
            <a:srgbClr val="609DFF"/>
          </a:solidFill>
        </p:spPr>
      </p:sp>
      <p:pic>
        <p:nvPicPr>
          <p:cNvPr id="26"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10499586" y="5087064"/>
            <a:ext cx="267176" cy="267176"/>
          </a:xfrm>
          <a:prstGeom prst="rect">
            <a:avLst/>
          </a:prstGeom>
        </p:spPr>
      </p:pic>
      <p:sp>
        <p:nvSpPr>
          <p:cNvPr id="27" name="Text 21"/>
          <p:cNvSpPr/>
          <p:nvPr/>
        </p:nvSpPr>
        <p:spPr>
          <a:xfrm>
            <a:off x="7668697" y="5777389"/>
            <a:ext cx="3068479" cy="347901"/>
          </a:xfrm>
          <a:prstGeom prst="rect">
            <a:avLst/>
          </a:prstGeom>
          <a:noFill/>
        </p:spPr>
        <p:txBody>
          <a:bodyPr wrap="none" lIns="0" tIns="0" rIns="0" bIns="0" rtlCol="0" anchor="t"/>
          <a:lstStyle/>
          <a:p>
            <a:pPr marL="0" indent="0" algn="l">
              <a:lnSpc>
                <a:spcPts val="2700"/>
              </a:lnSpc>
              <a:buNone/>
            </a:pPr>
            <a:r>
              <a:rPr lang="en-US" sz="21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Post-Disaster Learning</a:t>
            </a:r>
            <a:endParaRPr lang="en-US" sz="2150" dirty="0"/>
          </a:p>
        </p:txBody>
      </p:sp>
      <p:sp>
        <p:nvSpPr>
          <p:cNvPr id="28" name="Text 22"/>
          <p:cNvSpPr/>
          <p:nvPr/>
        </p:nvSpPr>
        <p:spPr>
          <a:xfrm>
            <a:off x="7668697" y="6245781"/>
            <a:ext cx="5929193" cy="677466"/>
          </a:xfrm>
          <a:prstGeom prst="rect">
            <a:avLst/>
          </a:prstGeom>
          <a:noFill/>
        </p:spPr>
        <p:txBody>
          <a:bodyPr wrap="square" lIns="0" tIns="0" rIns="0" bIns="0" rtlCol="0" anchor="t"/>
          <a:lstStyle/>
          <a:p>
            <a:pPr marL="0" indent="0" algn="l">
              <a:lnSpc>
                <a:spcPts val="2650"/>
              </a:lnSpc>
              <a:buNone/>
            </a:pPr>
            <a:r>
              <a:rPr lang="en-US" sz="17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Analyzes response outcomes and continuously retrains models to enhance future decision-making.</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3798" y="951071"/>
            <a:ext cx="3811072" cy="463868"/>
          </a:xfrm>
          <a:prstGeom prst="roundRect">
            <a:avLst>
              <a:gd name="adj" fmla="val 17879"/>
            </a:avLst>
          </a:prstGeom>
          <a:solidFill>
            <a:srgbClr val="001D4D"/>
          </a:solidFill>
        </p:spPr>
      </p:sp>
      <p:sp>
        <p:nvSpPr>
          <p:cNvPr id="3" name="Text 1"/>
          <p:cNvSpPr/>
          <p:nvPr/>
        </p:nvSpPr>
        <p:spPr>
          <a:xfrm>
            <a:off x="1011793" y="1025009"/>
            <a:ext cx="3515082" cy="315992"/>
          </a:xfrm>
          <a:prstGeom prst="rect">
            <a:avLst/>
          </a:prstGeom>
          <a:noFill/>
        </p:spPr>
        <p:txBody>
          <a:bodyPr wrap="none" lIns="0" tIns="0" rIns="0" bIns="0" rtlCol="0" anchor="t"/>
          <a:lstStyle/>
          <a:p>
            <a:pPr marL="0" indent="0" algn="l">
              <a:lnSpc>
                <a:spcPts val="2450"/>
              </a:lnSpc>
              <a:buNone/>
            </a:pPr>
            <a:r>
              <a:rPr lang="en-US" sz="15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NON-FUNCTIONAL REQUIREMENTS</a:t>
            </a:r>
            <a:endParaRPr lang="en-US" sz="1550" dirty="0"/>
          </a:p>
        </p:txBody>
      </p:sp>
      <p:sp>
        <p:nvSpPr>
          <p:cNvPr id="4" name="Text 2"/>
          <p:cNvSpPr/>
          <p:nvPr/>
        </p:nvSpPr>
        <p:spPr>
          <a:xfrm>
            <a:off x="863798" y="1513642"/>
            <a:ext cx="9757053" cy="616982"/>
          </a:xfrm>
          <a:prstGeom prst="rect">
            <a:avLst/>
          </a:prstGeom>
          <a:noFill/>
        </p:spPr>
        <p:txBody>
          <a:bodyPr wrap="none" lIns="0" tIns="0" rIns="0" bIns="0" rtlCol="0" anchor="t"/>
          <a:lstStyle/>
          <a:p>
            <a:pPr marL="0" indent="0" algn="l">
              <a:lnSpc>
                <a:spcPts val="4850"/>
              </a:lnSpc>
              <a:buNone/>
            </a:pPr>
            <a:r>
              <a:rPr lang="en-US" sz="38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Ensuring System Quality and Robustness</a:t>
            </a:r>
            <a:endParaRPr lang="en-US" sz="3850" dirty="0"/>
          </a:p>
        </p:txBody>
      </p:sp>
      <p:sp>
        <p:nvSpPr>
          <p:cNvPr id="5" name="Text 3"/>
          <p:cNvSpPr/>
          <p:nvPr/>
        </p:nvSpPr>
        <p:spPr>
          <a:xfrm>
            <a:off x="863798" y="2747605"/>
            <a:ext cx="3386018" cy="385524"/>
          </a:xfrm>
          <a:prstGeom prst="rect">
            <a:avLst/>
          </a:prstGeom>
          <a:noFill/>
        </p:spPr>
        <p:txBody>
          <a:bodyPr wrap="none" lIns="0" tIns="0" rIns="0" bIns="0" rtlCol="0" anchor="t"/>
          <a:lstStyle/>
          <a:p>
            <a:pPr marL="0" indent="0" algn="l">
              <a:lnSpc>
                <a:spcPts val="3000"/>
              </a:lnSpc>
              <a:buNone/>
            </a:pPr>
            <a:r>
              <a:rPr lang="en-US" sz="24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Operational Excellence</a:t>
            </a:r>
            <a:endParaRPr lang="en-US" sz="2400" dirty="0"/>
          </a:p>
        </p:txBody>
      </p:sp>
      <p:sp>
        <p:nvSpPr>
          <p:cNvPr id="6" name="Text 4"/>
          <p:cNvSpPr/>
          <p:nvPr/>
        </p:nvSpPr>
        <p:spPr>
          <a:xfrm>
            <a:off x="863798" y="3379946"/>
            <a:ext cx="6150293" cy="3159447"/>
          </a:xfrm>
          <a:prstGeom prst="rect">
            <a:avLst/>
          </a:prstGeom>
          <a:noFill/>
        </p:spPr>
        <p:txBody>
          <a:bodyPr wrap="square" lIns="0" tIns="0" rIns="0" bIns="0" rtlCol="0" anchor="t"/>
          <a:lstStyle/>
          <a:p>
            <a:pPr marL="0" indent="0" algn="l">
              <a:lnSpc>
                <a:spcPts val="3100"/>
              </a:lnSpc>
              <a:buSzPct val="100000"/>
              <a:buNone/>
            </a:pPr>
            <a:r>
              <a:rPr lang="en-US" sz="19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Scalability:</a:t>
            </a: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Handles growing data volumes, users, and emergency events without performance degradation.</a:t>
            </a:r>
            <a:endParaRPr lang="en-US" sz="1900" dirty="0"/>
          </a:p>
          <a:p>
            <a:pPr marL="0" indent="0" algn="l">
              <a:lnSpc>
                <a:spcPts val="3100"/>
              </a:lnSpc>
              <a:buSzPct val="100000"/>
              <a:buNone/>
            </a:pPr>
            <a:r>
              <a:rPr lang="en-US" sz="19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Reliability &amp; Availability:</a:t>
            </a: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Operates continuously with minimal downtime, especially during critical periods.</a:t>
            </a:r>
            <a:endParaRPr lang="en-US" sz="1900" dirty="0"/>
          </a:p>
          <a:p>
            <a:pPr marL="0" indent="0" algn="l">
              <a:lnSpc>
                <a:spcPts val="3100"/>
              </a:lnSpc>
              <a:buSzPct val="100000"/>
              <a:buNone/>
            </a:pPr>
            <a:r>
              <a:rPr lang="en-US" sz="19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Performance:</a:t>
            </a: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Processes data and generates decisions in near real-time for timely responses.</a:t>
            </a:r>
            <a:endParaRPr lang="en-US" sz="1900" dirty="0"/>
          </a:p>
        </p:txBody>
      </p:sp>
      <p:sp>
        <p:nvSpPr>
          <p:cNvPr id="7" name="Text 5"/>
          <p:cNvSpPr/>
          <p:nvPr/>
        </p:nvSpPr>
        <p:spPr>
          <a:xfrm>
            <a:off x="7623929" y="2747605"/>
            <a:ext cx="4242554" cy="385524"/>
          </a:xfrm>
          <a:prstGeom prst="rect">
            <a:avLst/>
          </a:prstGeom>
          <a:noFill/>
        </p:spPr>
        <p:txBody>
          <a:bodyPr wrap="none" lIns="0" tIns="0" rIns="0" bIns="0" rtlCol="0" anchor="t"/>
          <a:lstStyle/>
          <a:p>
            <a:pPr marL="0" indent="0" algn="l">
              <a:lnSpc>
                <a:spcPts val="3000"/>
              </a:lnSpc>
              <a:buNone/>
            </a:pPr>
            <a:r>
              <a:rPr lang="en-US" sz="24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Security and Maintainability</a:t>
            </a:r>
            <a:endParaRPr lang="en-US" sz="2400" dirty="0"/>
          </a:p>
        </p:txBody>
      </p:sp>
      <p:sp>
        <p:nvSpPr>
          <p:cNvPr id="8" name="Text 6"/>
          <p:cNvSpPr/>
          <p:nvPr/>
        </p:nvSpPr>
        <p:spPr>
          <a:xfrm>
            <a:off x="7623929" y="3379946"/>
            <a:ext cx="6150293" cy="3554378"/>
          </a:xfrm>
          <a:prstGeom prst="rect">
            <a:avLst/>
          </a:prstGeom>
          <a:noFill/>
        </p:spPr>
        <p:txBody>
          <a:bodyPr wrap="square" lIns="0" tIns="0" rIns="0" bIns="0" rtlCol="0" anchor="t"/>
          <a:lstStyle/>
          <a:p>
            <a:pPr marL="0" indent="0" algn="l">
              <a:lnSpc>
                <a:spcPts val="3100"/>
              </a:lnSpc>
              <a:buSzPct val="100000"/>
              <a:buNone/>
            </a:pPr>
            <a:r>
              <a:rPr lang="en-US" sz="19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Security:</a:t>
            </a: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Enforces authentication, authorization, and secure data storage to protect sensitive information.</a:t>
            </a:r>
            <a:endParaRPr lang="en-US" sz="1900" dirty="0"/>
          </a:p>
          <a:p>
            <a:pPr marL="0" indent="0" algn="l">
              <a:lnSpc>
                <a:spcPts val="3100"/>
              </a:lnSpc>
              <a:buSzPct val="100000"/>
              <a:buNone/>
            </a:pPr>
            <a:r>
              <a:rPr lang="en-US" sz="19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Explainability &amp; Trust:</a:t>
            </a: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Ensures AI decisions are interpretable for users and authorities.</a:t>
            </a:r>
            <a:endParaRPr lang="en-US" sz="1900" dirty="0"/>
          </a:p>
          <a:p>
            <a:pPr marL="0" indent="0" algn="l">
              <a:lnSpc>
                <a:spcPts val="3100"/>
              </a:lnSpc>
              <a:buSzPct val="100000"/>
              <a:buNone/>
            </a:pPr>
            <a:r>
              <a:rPr lang="en-US" sz="19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Fault Tolerance:</a:t>
            </a: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Continues functioning even if one or more modules fail.</a:t>
            </a:r>
            <a:endParaRPr lang="en-US" sz="1900" dirty="0"/>
          </a:p>
          <a:p>
            <a:pPr marL="0" indent="0" algn="l">
              <a:lnSpc>
                <a:spcPts val="3100"/>
              </a:lnSpc>
              <a:buSzPct val="100000"/>
              <a:buNone/>
            </a:pPr>
            <a:r>
              <a:rPr lang="en-US" sz="1900" b="1"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Maintainability:</a:t>
            </a: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Modular design allows for easy updates, modifications, and extensions.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863798" y="2352913"/>
            <a:ext cx="2736771" cy="463868"/>
          </a:xfrm>
          <a:prstGeom prst="roundRect">
            <a:avLst>
              <a:gd name="adj" fmla="val 17879"/>
            </a:avLst>
          </a:prstGeom>
          <a:solidFill>
            <a:srgbClr val="001D4D"/>
          </a:solidFill>
        </p:spPr>
      </p:sp>
      <p:sp>
        <p:nvSpPr>
          <p:cNvPr id="4" name="Text 1"/>
          <p:cNvSpPr/>
          <p:nvPr/>
        </p:nvSpPr>
        <p:spPr>
          <a:xfrm>
            <a:off x="1011793" y="2426851"/>
            <a:ext cx="2440781" cy="315992"/>
          </a:xfrm>
          <a:prstGeom prst="rect">
            <a:avLst/>
          </a:prstGeom>
          <a:noFill/>
        </p:spPr>
        <p:txBody>
          <a:bodyPr wrap="none" lIns="0" tIns="0" rIns="0" bIns="0" rtlCol="0" anchor="t"/>
          <a:lstStyle/>
          <a:p>
            <a:pPr marL="0" indent="0" algn="l">
              <a:lnSpc>
                <a:spcPts val="2450"/>
              </a:lnSpc>
              <a:buNone/>
            </a:pPr>
            <a:r>
              <a:rPr lang="en-US" sz="15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SYSTEM ARCHITECTURE</a:t>
            </a:r>
            <a:endParaRPr lang="en-US" sz="1550" dirty="0"/>
          </a:p>
        </p:txBody>
      </p:sp>
      <p:sp>
        <p:nvSpPr>
          <p:cNvPr id="5" name="Text 2"/>
          <p:cNvSpPr/>
          <p:nvPr/>
        </p:nvSpPr>
        <p:spPr>
          <a:xfrm>
            <a:off x="863798" y="2915483"/>
            <a:ext cx="6825853" cy="616982"/>
          </a:xfrm>
          <a:prstGeom prst="rect">
            <a:avLst/>
          </a:prstGeom>
          <a:noFill/>
        </p:spPr>
        <p:txBody>
          <a:bodyPr wrap="none" lIns="0" tIns="0" rIns="0" bIns="0" rtlCol="0" anchor="t"/>
          <a:lstStyle/>
          <a:p>
            <a:pPr marL="0" indent="0" algn="l">
              <a:lnSpc>
                <a:spcPts val="4850"/>
              </a:lnSpc>
              <a:buNone/>
            </a:pPr>
            <a:r>
              <a:rPr lang="en-US" sz="38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Layered and Modular Design</a:t>
            </a:r>
            <a:endParaRPr lang="en-US" sz="3850" dirty="0"/>
          </a:p>
        </p:txBody>
      </p:sp>
      <p:sp>
        <p:nvSpPr>
          <p:cNvPr id="6" name="Text 3"/>
          <p:cNvSpPr/>
          <p:nvPr/>
        </p:nvSpPr>
        <p:spPr>
          <a:xfrm>
            <a:off x="863798" y="3902631"/>
            <a:ext cx="7416403" cy="1974056"/>
          </a:xfrm>
          <a:prstGeom prst="rect">
            <a:avLst/>
          </a:prstGeom>
          <a:noFill/>
        </p:spPr>
        <p:txBody>
          <a:bodyPr wrap="square" lIns="0" tIns="0" rIns="0" bIns="0" rtlCol="0" anchor="t"/>
          <a:lstStyle/>
          <a:p>
            <a:pPr marL="0" indent="0" algn="l">
              <a:lnSpc>
                <a:spcPts val="3100"/>
              </a:lnSpc>
              <a:buNone/>
            </a:pP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The AGENT-RESCUE system employs a </a:t>
            </a:r>
            <a:r>
              <a:rPr lang="en-US" sz="1600" dirty="0">
                <a:solidFill>
                  <a:srgbClr val="2150FE"/>
                </a:solidFill>
                <a:latin typeface="Merriweather" panose="00000500000000000000" pitchFamily="34" charset="0"/>
                <a:ea typeface="Merriweather" panose="00000500000000000000" pitchFamily="34" charset="-122"/>
                <a:cs typeface="Merriweather" panose="00000500000000000000" pitchFamily="34" charset="-120"/>
              </a:rPr>
              <a:t>layered and modular design</a:t>
            </a:r>
            <a:r>
              <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 to ensure scalability, maintainability, and real-time performance. This architecture is structured into four distinct layers, each with a defined role, communicating via well-established interfaces.</a:t>
            </a:r>
            <a:endParaRPr lang="en-US" sz="16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p:txBody>
      </p:sp>
      <p:pic>
        <p:nvPicPr>
          <p:cNvPr id="7" name="Picture 12" descr="IMG_256"/>
          <p:cNvPicPr>
            <a:picLocks noChangeAspect="1"/>
          </p:cNvPicPr>
          <p:nvPr/>
        </p:nvPicPr>
        <p:blipFill>
          <a:blip r:embed="rId1"/>
          <a:stretch>
            <a:fillRect/>
          </a:stretch>
        </p:blipFill>
        <p:spPr>
          <a:xfrm>
            <a:off x="8095615" y="1878330"/>
            <a:ext cx="6021070" cy="462407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234559" y="1409462"/>
            <a:ext cx="2556034" cy="337780"/>
          </a:xfrm>
          <a:prstGeom prst="roundRect">
            <a:avLst>
              <a:gd name="adj" fmla="val 19285"/>
            </a:avLst>
          </a:prstGeom>
          <a:solidFill>
            <a:srgbClr val="001D4D"/>
          </a:solidFill>
        </p:spPr>
      </p:sp>
      <p:sp>
        <p:nvSpPr>
          <p:cNvPr id="3" name="Text 1"/>
          <p:cNvSpPr/>
          <p:nvPr/>
        </p:nvSpPr>
        <p:spPr>
          <a:xfrm>
            <a:off x="1350883" y="1467564"/>
            <a:ext cx="2323386" cy="221575"/>
          </a:xfrm>
          <a:prstGeom prst="rect">
            <a:avLst/>
          </a:prstGeom>
          <a:noFill/>
        </p:spPr>
        <p:txBody>
          <a:bodyPr wrap="none" lIns="0" tIns="0" rIns="0" bIns="0" rtlCol="0" anchor="t"/>
          <a:lstStyle/>
          <a:p>
            <a:pPr marL="0" indent="0" algn="l">
              <a:lnSpc>
                <a:spcPts val="1700"/>
              </a:lnSpc>
              <a:buNone/>
            </a:pPr>
            <a:r>
              <a:rPr lang="en-US" sz="12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ARCHITECTURE BREAKDOWN</a:t>
            </a:r>
            <a:endParaRPr lang="en-US" sz="1200" dirty="0"/>
          </a:p>
        </p:txBody>
      </p:sp>
      <p:sp>
        <p:nvSpPr>
          <p:cNvPr id="4" name="Text 2"/>
          <p:cNvSpPr/>
          <p:nvPr/>
        </p:nvSpPr>
        <p:spPr>
          <a:xfrm>
            <a:off x="1234559" y="1808083"/>
            <a:ext cx="9093398" cy="484703"/>
          </a:xfrm>
          <a:prstGeom prst="rect">
            <a:avLst/>
          </a:prstGeom>
          <a:noFill/>
        </p:spPr>
        <p:txBody>
          <a:bodyPr wrap="none" lIns="0" tIns="0" rIns="0" bIns="0" rtlCol="0" anchor="t"/>
          <a:lstStyle/>
          <a:p>
            <a:pPr marL="0" indent="0" algn="l">
              <a:lnSpc>
                <a:spcPts val="3800"/>
              </a:lnSpc>
              <a:buNone/>
            </a:pPr>
            <a:r>
              <a:rPr lang="en-US" sz="30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Components of the AGENT-RESCUE Architecture</a:t>
            </a:r>
            <a:endParaRPr lang="en-US" sz="3050" dirty="0"/>
          </a:p>
        </p:txBody>
      </p:sp>
      <p:sp>
        <p:nvSpPr>
          <p:cNvPr id="5" name="Shape 3"/>
          <p:cNvSpPr/>
          <p:nvPr/>
        </p:nvSpPr>
        <p:spPr>
          <a:xfrm>
            <a:off x="1234559" y="2521148"/>
            <a:ext cx="2926080" cy="4298990"/>
          </a:xfrm>
          <a:prstGeom prst="roundRect">
            <a:avLst>
              <a:gd name="adj" fmla="val 2783"/>
            </a:avLst>
          </a:prstGeom>
          <a:solidFill>
            <a:srgbClr val="003180"/>
          </a:solidFill>
          <a:ln w="7620">
            <a:solidFill>
              <a:srgbClr val="194A99"/>
            </a:solidFill>
            <a:prstDash val="solid"/>
          </a:ln>
        </p:spPr>
      </p:sp>
      <p:sp>
        <p:nvSpPr>
          <p:cNvPr id="6" name="Shape 4"/>
          <p:cNvSpPr/>
          <p:nvPr/>
        </p:nvSpPr>
        <p:spPr>
          <a:xfrm>
            <a:off x="1436013" y="2722602"/>
            <a:ext cx="581620" cy="581620"/>
          </a:xfrm>
          <a:prstGeom prst="roundRect">
            <a:avLst>
              <a:gd name="adj" fmla="val 15720033"/>
            </a:avLst>
          </a:prstGeom>
          <a:solidFill>
            <a:srgbClr val="609DFF"/>
          </a:solidFill>
        </p:spPr>
      </p:sp>
      <p:pic>
        <p:nvPicPr>
          <p:cNvPr id="7"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95914" y="2882503"/>
            <a:ext cx="261699" cy="261699"/>
          </a:xfrm>
          <a:prstGeom prst="rect">
            <a:avLst/>
          </a:prstGeom>
        </p:spPr>
      </p:pic>
      <p:sp>
        <p:nvSpPr>
          <p:cNvPr id="8" name="Text 5"/>
          <p:cNvSpPr/>
          <p:nvPr/>
        </p:nvSpPr>
        <p:spPr>
          <a:xfrm>
            <a:off x="1436013" y="3456384"/>
            <a:ext cx="2423398" cy="302776"/>
          </a:xfrm>
          <a:prstGeom prst="rect">
            <a:avLst/>
          </a:prstGeom>
          <a:noFill/>
        </p:spPr>
        <p:txBody>
          <a:bodyPr wrap="none" lIns="0" tIns="0" rIns="0" bIns="0" rtlCol="0" anchor="t"/>
          <a:lstStyle/>
          <a:p>
            <a:pPr marL="0" indent="0" algn="l">
              <a:lnSpc>
                <a:spcPts val="23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Presentation Layer</a:t>
            </a:r>
            <a:endParaRPr lang="en-US" sz="1900" dirty="0"/>
          </a:p>
        </p:txBody>
      </p:sp>
      <p:sp>
        <p:nvSpPr>
          <p:cNvPr id="9" name="Text 6"/>
          <p:cNvSpPr/>
          <p:nvPr/>
        </p:nvSpPr>
        <p:spPr>
          <a:xfrm>
            <a:off x="1436013" y="3850481"/>
            <a:ext cx="2523173" cy="2214563"/>
          </a:xfrm>
          <a:prstGeom prst="rect">
            <a:avLst/>
          </a:prstGeom>
          <a:noFill/>
        </p:spPr>
        <p:txBody>
          <a:bodyPr wrap="square" lIns="0" tIns="0" rIns="0" bIns="0" rtlCol="0" anchor="t"/>
          <a:lstStyle/>
          <a:p>
            <a:pPr marL="0" indent="0" algn="l">
              <a:lnSpc>
                <a:spcPts val="2150"/>
              </a:lnSpc>
              <a:buNone/>
            </a:pPr>
            <a:r>
              <a:rPr lang="en-US" sz="15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Web-based dashboard for authorities and a chatbot for citizens, providing real-time data and safety guidance. Uses secure REST APIs and WebSockets for dynamic updates.</a:t>
            </a:r>
            <a:endParaRPr lang="en-US" sz="1500" dirty="0"/>
          </a:p>
        </p:txBody>
      </p:sp>
      <p:sp>
        <p:nvSpPr>
          <p:cNvPr id="10" name="Shape 7"/>
          <p:cNvSpPr/>
          <p:nvPr/>
        </p:nvSpPr>
        <p:spPr>
          <a:xfrm>
            <a:off x="4312801" y="2521148"/>
            <a:ext cx="2926199" cy="4298990"/>
          </a:xfrm>
          <a:prstGeom prst="roundRect">
            <a:avLst>
              <a:gd name="adj" fmla="val 2783"/>
            </a:avLst>
          </a:prstGeom>
          <a:solidFill>
            <a:srgbClr val="003180"/>
          </a:solidFill>
          <a:ln w="7620">
            <a:solidFill>
              <a:srgbClr val="194A99"/>
            </a:solidFill>
            <a:prstDash val="solid"/>
          </a:ln>
        </p:spPr>
      </p:sp>
      <p:sp>
        <p:nvSpPr>
          <p:cNvPr id="11" name="Shape 8"/>
          <p:cNvSpPr/>
          <p:nvPr/>
        </p:nvSpPr>
        <p:spPr>
          <a:xfrm>
            <a:off x="4514255" y="2722602"/>
            <a:ext cx="581620" cy="581620"/>
          </a:xfrm>
          <a:prstGeom prst="roundRect">
            <a:avLst>
              <a:gd name="adj" fmla="val 15720033"/>
            </a:avLst>
          </a:prstGeom>
          <a:solidFill>
            <a:srgbClr val="609DFF"/>
          </a:solidFill>
        </p:spPr>
      </p:sp>
      <p:pic>
        <p:nvPicPr>
          <p:cNvPr id="12" name="Image 1" descr="preencoded.png"/>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4674156" y="2882503"/>
            <a:ext cx="261699" cy="261699"/>
          </a:xfrm>
          <a:prstGeom prst="rect">
            <a:avLst/>
          </a:prstGeom>
        </p:spPr>
      </p:pic>
      <p:sp>
        <p:nvSpPr>
          <p:cNvPr id="13" name="Text 9"/>
          <p:cNvSpPr/>
          <p:nvPr/>
        </p:nvSpPr>
        <p:spPr>
          <a:xfrm>
            <a:off x="4514255" y="3456384"/>
            <a:ext cx="2523292" cy="605552"/>
          </a:xfrm>
          <a:prstGeom prst="rect">
            <a:avLst/>
          </a:prstGeom>
          <a:noFill/>
        </p:spPr>
        <p:txBody>
          <a:bodyPr wrap="square" lIns="0" tIns="0" rIns="0" bIns="0" rtlCol="0" anchor="t"/>
          <a:lstStyle/>
          <a:p>
            <a:pPr marL="0" indent="0" algn="l">
              <a:lnSpc>
                <a:spcPts val="23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API and Control Layer</a:t>
            </a:r>
            <a:endParaRPr lang="en-US" sz="1900" dirty="0"/>
          </a:p>
        </p:txBody>
      </p:sp>
      <p:sp>
        <p:nvSpPr>
          <p:cNvPr id="14" name="Text 10"/>
          <p:cNvSpPr/>
          <p:nvPr/>
        </p:nvSpPr>
        <p:spPr>
          <a:xfrm>
            <a:off x="4514255" y="4153257"/>
            <a:ext cx="2523292" cy="2214563"/>
          </a:xfrm>
          <a:prstGeom prst="rect">
            <a:avLst/>
          </a:prstGeom>
          <a:noFill/>
        </p:spPr>
        <p:txBody>
          <a:bodyPr wrap="square" lIns="0" tIns="0" rIns="0" bIns="0" rtlCol="0" anchor="t"/>
          <a:lstStyle/>
          <a:p>
            <a:pPr marL="0" indent="0" algn="l">
              <a:lnSpc>
                <a:spcPts val="2150"/>
              </a:lnSpc>
              <a:buNone/>
            </a:pPr>
            <a:r>
              <a:rPr lang="en-US" sz="15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Central communication hub built with FastAPI, managing requests, data validation, authentication, and routing to AI agents. Orchestrates agent interactions based on system events.</a:t>
            </a:r>
            <a:endParaRPr lang="en-US" sz="1500" dirty="0"/>
          </a:p>
        </p:txBody>
      </p:sp>
      <p:sp>
        <p:nvSpPr>
          <p:cNvPr id="15" name="Shape 11"/>
          <p:cNvSpPr/>
          <p:nvPr/>
        </p:nvSpPr>
        <p:spPr>
          <a:xfrm>
            <a:off x="7391162" y="2521148"/>
            <a:ext cx="2926199" cy="4298990"/>
          </a:xfrm>
          <a:prstGeom prst="roundRect">
            <a:avLst>
              <a:gd name="adj" fmla="val 2783"/>
            </a:avLst>
          </a:prstGeom>
          <a:solidFill>
            <a:srgbClr val="003180"/>
          </a:solidFill>
          <a:ln w="7620">
            <a:solidFill>
              <a:srgbClr val="194A99"/>
            </a:solidFill>
            <a:prstDash val="solid"/>
          </a:ln>
        </p:spPr>
      </p:sp>
      <p:sp>
        <p:nvSpPr>
          <p:cNvPr id="16" name="Shape 12"/>
          <p:cNvSpPr/>
          <p:nvPr/>
        </p:nvSpPr>
        <p:spPr>
          <a:xfrm>
            <a:off x="7592616" y="2722602"/>
            <a:ext cx="581620" cy="581620"/>
          </a:xfrm>
          <a:prstGeom prst="roundRect">
            <a:avLst>
              <a:gd name="adj" fmla="val 15720033"/>
            </a:avLst>
          </a:prstGeom>
          <a:solidFill>
            <a:srgbClr val="609DFF"/>
          </a:solidFill>
        </p:spPr>
      </p:sp>
      <p:pic>
        <p:nvPicPr>
          <p:cNvPr id="17" name="Image 2" descr="preencoded.png"/>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7752517" y="2882503"/>
            <a:ext cx="261699" cy="261699"/>
          </a:xfrm>
          <a:prstGeom prst="rect">
            <a:avLst/>
          </a:prstGeom>
        </p:spPr>
      </p:pic>
      <p:sp>
        <p:nvSpPr>
          <p:cNvPr id="18" name="Text 13"/>
          <p:cNvSpPr/>
          <p:nvPr/>
        </p:nvSpPr>
        <p:spPr>
          <a:xfrm>
            <a:off x="7592616" y="3456384"/>
            <a:ext cx="2423398" cy="302776"/>
          </a:xfrm>
          <a:prstGeom prst="rect">
            <a:avLst/>
          </a:prstGeom>
          <a:noFill/>
        </p:spPr>
        <p:txBody>
          <a:bodyPr wrap="none" lIns="0" tIns="0" rIns="0" bIns="0" rtlCol="0" anchor="t"/>
          <a:lstStyle/>
          <a:p>
            <a:pPr marL="0" indent="0" algn="l">
              <a:lnSpc>
                <a:spcPts val="23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Agentic AI Layer</a:t>
            </a:r>
            <a:endParaRPr lang="en-US" sz="1900" dirty="0"/>
          </a:p>
        </p:txBody>
      </p:sp>
      <p:sp>
        <p:nvSpPr>
          <p:cNvPr id="19" name="Text 14"/>
          <p:cNvSpPr/>
          <p:nvPr/>
        </p:nvSpPr>
        <p:spPr>
          <a:xfrm>
            <a:off x="7592616" y="3850481"/>
            <a:ext cx="2523292" cy="2768203"/>
          </a:xfrm>
          <a:prstGeom prst="rect">
            <a:avLst/>
          </a:prstGeom>
          <a:noFill/>
        </p:spPr>
        <p:txBody>
          <a:bodyPr wrap="square" lIns="0" tIns="0" rIns="0" bIns="0" rtlCol="0" anchor="t"/>
          <a:lstStyle/>
          <a:p>
            <a:pPr marL="0" indent="0" algn="l">
              <a:lnSpc>
                <a:spcPts val="2150"/>
              </a:lnSpc>
              <a:buNone/>
            </a:pPr>
            <a:r>
              <a:rPr lang="en-US" sz="15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The core intelligence, comprising autonomous AI agents for prediction, assessment, resource allocation, communication, and continuous learning. Agents communicate asynchronously for efficient decision-making.</a:t>
            </a:r>
            <a:endParaRPr lang="en-US" sz="1500" dirty="0"/>
          </a:p>
        </p:txBody>
      </p:sp>
      <p:sp>
        <p:nvSpPr>
          <p:cNvPr id="20" name="Shape 15"/>
          <p:cNvSpPr/>
          <p:nvPr/>
        </p:nvSpPr>
        <p:spPr>
          <a:xfrm>
            <a:off x="10469523" y="2521148"/>
            <a:ext cx="2926199" cy="4298990"/>
          </a:xfrm>
          <a:prstGeom prst="roundRect">
            <a:avLst>
              <a:gd name="adj" fmla="val 2783"/>
            </a:avLst>
          </a:prstGeom>
          <a:solidFill>
            <a:srgbClr val="003180"/>
          </a:solidFill>
          <a:ln w="7620">
            <a:solidFill>
              <a:srgbClr val="194A99"/>
            </a:solidFill>
            <a:prstDash val="solid"/>
          </a:ln>
        </p:spPr>
      </p:sp>
      <p:sp>
        <p:nvSpPr>
          <p:cNvPr id="21" name="Shape 16"/>
          <p:cNvSpPr/>
          <p:nvPr/>
        </p:nvSpPr>
        <p:spPr>
          <a:xfrm>
            <a:off x="10670977" y="2722602"/>
            <a:ext cx="581620" cy="581620"/>
          </a:xfrm>
          <a:prstGeom prst="roundRect">
            <a:avLst>
              <a:gd name="adj" fmla="val 15720033"/>
            </a:avLst>
          </a:prstGeom>
          <a:solidFill>
            <a:srgbClr val="609DFF"/>
          </a:solidFill>
        </p:spPr>
      </p:sp>
      <p:pic>
        <p:nvPicPr>
          <p:cNvPr id="22" name="Image 3" descr="preencoded.png"/>
          <p:cNvPicPr>
            <a:picLocks noChangeAspect="1"/>
          </p:cNvPicPr>
          <p:nvPr/>
        </p:nvPicPr>
        <p:blipFill>
          <a:blip r:embed="rId1">
            <a:extLst>
              <a:ext uri="{96DAC541-7B7A-43D3-8B79-37D633B846F1}">
                <asvg:svgBlip xmlns:asvg="http://schemas.microsoft.com/office/drawing/2016/SVG/main" r:embed="rId5"/>
              </a:ext>
            </a:extLst>
          </a:blip>
          <a:stretch>
            <a:fillRect/>
          </a:stretch>
        </p:blipFill>
        <p:spPr>
          <a:xfrm>
            <a:off x="10830878" y="2882503"/>
            <a:ext cx="261699" cy="261699"/>
          </a:xfrm>
          <a:prstGeom prst="rect">
            <a:avLst/>
          </a:prstGeom>
        </p:spPr>
      </p:pic>
      <p:sp>
        <p:nvSpPr>
          <p:cNvPr id="23" name="Text 17"/>
          <p:cNvSpPr/>
          <p:nvPr/>
        </p:nvSpPr>
        <p:spPr>
          <a:xfrm>
            <a:off x="10670977" y="3456384"/>
            <a:ext cx="2423398" cy="302776"/>
          </a:xfrm>
          <a:prstGeom prst="rect">
            <a:avLst/>
          </a:prstGeom>
          <a:noFill/>
        </p:spPr>
        <p:txBody>
          <a:bodyPr wrap="none" lIns="0" tIns="0" rIns="0" bIns="0" rtlCol="0" anchor="t"/>
          <a:lstStyle/>
          <a:p>
            <a:pPr marL="0" indent="0" algn="l">
              <a:lnSpc>
                <a:spcPts val="23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Data Layer</a:t>
            </a:r>
            <a:endParaRPr lang="en-US" sz="1900" dirty="0"/>
          </a:p>
        </p:txBody>
      </p:sp>
      <p:sp>
        <p:nvSpPr>
          <p:cNvPr id="24" name="Text 18"/>
          <p:cNvSpPr/>
          <p:nvPr/>
        </p:nvSpPr>
        <p:spPr>
          <a:xfrm>
            <a:off x="10670977" y="3850481"/>
            <a:ext cx="2523292" cy="2214563"/>
          </a:xfrm>
          <a:prstGeom prst="rect">
            <a:avLst/>
          </a:prstGeom>
          <a:noFill/>
        </p:spPr>
        <p:txBody>
          <a:bodyPr wrap="square" lIns="0" tIns="0" rIns="0" bIns="0" rtlCol="0" anchor="t"/>
          <a:lstStyle/>
          <a:p>
            <a:pPr marL="0" indent="0" algn="l">
              <a:lnSpc>
                <a:spcPts val="2150"/>
              </a:lnSpc>
              <a:buNone/>
            </a:pPr>
            <a:r>
              <a:rPr lang="en-US" sz="15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Manages data storage in relational (structured data) and NoSQL (unstructured data) databases. Utilizes caching mechanisms for rapid data access, ensuring persistence and consistency.</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57488" y="683776"/>
            <a:ext cx="2441138" cy="459224"/>
          </a:xfrm>
          <a:prstGeom prst="roundRect">
            <a:avLst>
              <a:gd name="adj" fmla="val 17927"/>
            </a:avLst>
          </a:prstGeom>
          <a:solidFill>
            <a:srgbClr val="001D4D"/>
          </a:solidFill>
        </p:spPr>
      </p:sp>
      <p:sp>
        <p:nvSpPr>
          <p:cNvPr id="3" name="Text 1"/>
          <p:cNvSpPr/>
          <p:nvPr/>
        </p:nvSpPr>
        <p:spPr>
          <a:xfrm>
            <a:off x="1004411" y="757238"/>
            <a:ext cx="2147292" cy="312301"/>
          </a:xfrm>
          <a:prstGeom prst="rect">
            <a:avLst/>
          </a:prstGeom>
          <a:noFill/>
        </p:spPr>
        <p:txBody>
          <a:bodyPr wrap="none" lIns="0" tIns="0" rIns="0" bIns="0" rtlCol="0" anchor="t"/>
          <a:lstStyle/>
          <a:p>
            <a:pPr marL="0" indent="0" algn="l">
              <a:lnSpc>
                <a:spcPts val="2450"/>
              </a:lnSpc>
              <a:buNone/>
            </a:pPr>
            <a:r>
              <a:rPr lang="en-US" sz="15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AI AGENTS IN ACTION</a:t>
            </a:r>
            <a:endParaRPr lang="en-US" sz="1500" dirty="0"/>
          </a:p>
        </p:txBody>
      </p:sp>
      <p:sp>
        <p:nvSpPr>
          <p:cNvPr id="4" name="Text 2"/>
          <p:cNvSpPr/>
          <p:nvPr/>
        </p:nvSpPr>
        <p:spPr>
          <a:xfrm>
            <a:off x="857488" y="1240274"/>
            <a:ext cx="11857077" cy="612577"/>
          </a:xfrm>
          <a:prstGeom prst="rect">
            <a:avLst/>
          </a:prstGeom>
          <a:noFill/>
        </p:spPr>
        <p:txBody>
          <a:bodyPr wrap="none" lIns="0" tIns="0" rIns="0" bIns="0" rtlCol="0" anchor="t"/>
          <a:lstStyle/>
          <a:p>
            <a:pPr marL="0" indent="0" algn="l">
              <a:lnSpc>
                <a:spcPts val="4800"/>
              </a:lnSpc>
              <a:buNone/>
            </a:pPr>
            <a:r>
              <a:rPr lang="en-US" sz="38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Autonomous Intelligence for Emergency Response</a:t>
            </a:r>
            <a:endParaRPr lang="en-US" sz="3850" dirty="0"/>
          </a:p>
        </p:txBody>
      </p:sp>
      <p:sp>
        <p:nvSpPr>
          <p:cNvPr id="5" name="Text 3"/>
          <p:cNvSpPr/>
          <p:nvPr/>
        </p:nvSpPr>
        <p:spPr>
          <a:xfrm>
            <a:off x="1624965" y="2636877"/>
            <a:ext cx="3062645" cy="382786"/>
          </a:xfrm>
          <a:prstGeom prst="rect">
            <a:avLst/>
          </a:prstGeom>
          <a:noFill/>
        </p:spPr>
        <p:txBody>
          <a:bodyPr wrap="none" lIns="0" tIns="0" rIns="0" bIns="0" rtlCol="0" anchor="t"/>
          <a:lstStyle/>
          <a:p>
            <a:pPr marL="0" indent="0" algn="r">
              <a:lnSpc>
                <a:spcPts val="3000"/>
              </a:lnSpc>
              <a:buNone/>
            </a:pPr>
            <a:r>
              <a:rPr lang="en-US" sz="24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Prediction Agent</a:t>
            </a:r>
            <a:endParaRPr lang="en-US" sz="2400" dirty="0"/>
          </a:p>
        </p:txBody>
      </p:sp>
      <p:sp>
        <p:nvSpPr>
          <p:cNvPr id="6" name="Text 4"/>
          <p:cNvSpPr/>
          <p:nvPr/>
        </p:nvSpPr>
        <p:spPr>
          <a:xfrm>
            <a:off x="857488" y="3165515"/>
            <a:ext cx="3830122" cy="781050"/>
          </a:xfrm>
          <a:prstGeom prst="rect">
            <a:avLst/>
          </a:prstGeom>
          <a:noFill/>
        </p:spPr>
        <p:txBody>
          <a:bodyPr wrap="square" lIns="0" tIns="0" rIns="0" bIns="0" rtlCol="0" anchor="t"/>
          <a:lstStyle/>
          <a:p>
            <a:pPr marL="0" indent="0" algn="r">
              <a:lnSpc>
                <a:spcPts val="30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Analyzes data to estimate disaster risk.</a:t>
            </a:r>
            <a:endParaRPr lang="en-US" sz="1900" dirty="0"/>
          </a:p>
        </p:txBody>
      </p:sp>
      <p:pic>
        <p:nvPicPr>
          <p:cNvPr id="7" name="Image 0" descr="preencoded.png"/>
          <p:cNvPicPr>
            <a:picLocks noChangeAspect="1"/>
          </p:cNvPicPr>
          <p:nvPr/>
        </p:nvPicPr>
        <p:blipFill>
          <a:blip r:embed="rId1"/>
          <a:stretch>
            <a:fillRect/>
          </a:stretch>
        </p:blipFill>
        <p:spPr>
          <a:xfrm>
            <a:off x="5055037" y="2289453"/>
            <a:ext cx="4520327" cy="4520327"/>
          </a:xfrm>
          <a:prstGeom prst="rect">
            <a:avLst/>
          </a:prstGeom>
        </p:spPr>
      </p:pic>
      <p:pic>
        <p:nvPicPr>
          <p:cNvPr id="8"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30754" y="3230047"/>
            <a:ext cx="366593" cy="366593"/>
          </a:xfrm>
          <a:prstGeom prst="rect">
            <a:avLst/>
          </a:prstGeom>
        </p:spPr>
      </p:pic>
      <p:sp>
        <p:nvSpPr>
          <p:cNvPr id="9" name="Text 5"/>
          <p:cNvSpPr/>
          <p:nvPr/>
        </p:nvSpPr>
        <p:spPr>
          <a:xfrm>
            <a:off x="9942790" y="2217658"/>
            <a:ext cx="3062645" cy="382786"/>
          </a:xfrm>
          <a:prstGeom prst="rect">
            <a:avLst/>
          </a:prstGeom>
          <a:noFill/>
        </p:spPr>
        <p:txBody>
          <a:bodyPr wrap="none" lIns="0" tIns="0" rIns="0" bIns="0" rtlCol="0" anchor="t"/>
          <a:lstStyle/>
          <a:p>
            <a:pPr marL="0" indent="0" algn="l">
              <a:lnSpc>
                <a:spcPts val="3000"/>
              </a:lnSpc>
              <a:buNone/>
            </a:pPr>
            <a:r>
              <a:rPr lang="en-US" sz="24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Assessment Agent</a:t>
            </a:r>
            <a:endParaRPr lang="en-US" sz="2400" dirty="0"/>
          </a:p>
        </p:txBody>
      </p:sp>
      <p:sp>
        <p:nvSpPr>
          <p:cNvPr id="10" name="Text 6"/>
          <p:cNvSpPr/>
          <p:nvPr/>
        </p:nvSpPr>
        <p:spPr>
          <a:xfrm>
            <a:off x="9942790" y="2746296"/>
            <a:ext cx="3830122" cy="781050"/>
          </a:xfrm>
          <a:prstGeom prst="rect">
            <a:avLst/>
          </a:prstGeom>
          <a:noFill/>
        </p:spPr>
        <p:txBody>
          <a:bodyPr wrap="square" lIns="0" tIns="0" rIns="0" bIns="0" rtlCol="0" anchor="t"/>
          <a:lstStyle/>
          <a:p>
            <a:pPr marL="0" indent="0" algn="l">
              <a:lnSpc>
                <a:spcPts val="30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Evaluates emergency severity using NLP and computer vision.</a:t>
            </a:r>
            <a:endParaRPr lang="en-US" sz="1900" dirty="0"/>
          </a:p>
        </p:txBody>
      </p:sp>
      <p:pic>
        <p:nvPicPr>
          <p:cNvPr id="11" name="Image 2" descr="preencoded.png"/>
          <p:cNvPicPr>
            <a:picLocks noChangeAspect="1"/>
          </p:cNvPicPr>
          <p:nvPr/>
        </p:nvPicPr>
        <p:blipFill>
          <a:blip r:embed="rId4"/>
          <a:stretch>
            <a:fillRect/>
          </a:stretch>
        </p:blipFill>
        <p:spPr>
          <a:xfrm>
            <a:off x="5055037" y="2289453"/>
            <a:ext cx="4520327" cy="4520327"/>
          </a:xfrm>
          <a:prstGeom prst="rect">
            <a:avLst/>
          </a:prstGeom>
        </p:spPr>
      </p:pic>
      <p:pic>
        <p:nvPicPr>
          <p:cNvPr id="12" name="Image 3" descr="preencoded.png"/>
          <p:cNvPicPr>
            <a:picLocks noChangeAspect="1"/>
          </p:cNvPicPr>
          <p:nvPr/>
        </p:nvPicPr>
        <p:blipFill>
          <a:blip r:embed="rId2">
            <a:extLst>
              <a:ext uri="{96DAC541-7B7A-43D3-8B79-37D633B846F1}">
                <asvg:svgBlip xmlns:asvg="http://schemas.microsoft.com/office/drawing/2016/SVG/main" r:embed="rId5"/>
              </a:ext>
            </a:extLst>
          </a:blip>
          <a:stretch>
            <a:fillRect/>
          </a:stretch>
        </p:blipFill>
        <p:spPr>
          <a:xfrm>
            <a:off x="7872055" y="2967990"/>
            <a:ext cx="366593" cy="366593"/>
          </a:xfrm>
          <a:prstGeom prst="rect">
            <a:avLst/>
          </a:prstGeom>
        </p:spPr>
      </p:pic>
      <p:sp>
        <p:nvSpPr>
          <p:cNvPr id="13" name="Text 7"/>
          <p:cNvSpPr/>
          <p:nvPr/>
        </p:nvSpPr>
        <p:spPr>
          <a:xfrm>
            <a:off x="10065306" y="3894773"/>
            <a:ext cx="3062645" cy="382786"/>
          </a:xfrm>
          <a:prstGeom prst="rect">
            <a:avLst/>
          </a:prstGeom>
          <a:noFill/>
        </p:spPr>
        <p:txBody>
          <a:bodyPr wrap="none" lIns="0" tIns="0" rIns="0" bIns="0" rtlCol="0" anchor="t"/>
          <a:lstStyle/>
          <a:p>
            <a:pPr marL="0" indent="0" algn="l">
              <a:lnSpc>
                <a:spcPts val="3000"/>
              </a:lnSpc>
              <a:buNone/>
            </a:pPr>
            <a:r>
              <a:rPr lang="en-US" sz="24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Resource Agent</a:t>
            </a:r>
            <a:endParaRPr lang="en-US" sz="2400" dirty="0"/>
          </a:p>
        </p:txBody>
      </p:sp>
      <p:sp>
        <p:nvSpPr>
          <p:cNvPr id="14" name="Text 8"/>
          <p:cNvSpPr/>
          <p:nvPr/>
        </p:nvSpPr>
        <p:spPr>
          <a:xfrm>
            <a:off x="10065306" y="4423410"/>
            <a:ext cx="3707606" cy="781050"/>
          </a:xfrm>
          <a:prstGeom prst="rect">
            <a:avLst/>
          </a:prstGeom>
          <a:noFill/>
        </p:spPr>
        <p:txBody>
          <a:bodyPr wrap="square" lIns="0" tIns="0" rIns="0" bIns="0" rtlCol="0" anchor="t"/>
          <a:lstStyle/>
          <a:p>
            <a:pPr marL="0" indent="0" algn="l">
              <a:lnSpc>
                <a:spcPts val="30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Optimizes deployment of emergency resources.</a:t>
            </a:r>
            <a:endParaRPr lang="en-US" sz="1900" dirty="0"/>
          </a:p>
        </p:txBody>
      </p:sp>
      <p:pic>
        <p:nvPicPr>
          <p:cNvPr id="15" name="Image 4" descr="preencoded.png"/>
          <p:cNvPicPr>
            <a:picLocks noChangeAspect="1"/>
          </p:cNvPicPr>
          <p:nvPr/>
        </p:nvPicPr>
        <p:blipFill>
          <a:blip r:embed="rId6"/>
          <a:stretch>
            <a:fillRect/>
          </a:stretch>
        </p:blipFill>
        <p:spPr>
          <a:xfrm>
            <a:off x="5055037" y="2289453"/>
            <a:ext cx="4520327" cy="4520327"/>
          </a:xfrm>
          <a:prstGeom prst="rect">
            <a:avLst/>
          </a:prstGeom>
        </p:spPr>
      </p:pic>
      <p:pic>
        <p:nvPicPr>
          <p:cNvPr id="16" name="Image 5" descr="preencoded.png"/>
          <p:cNvPicPr>
            <a:picLocks noChangeAspect="1"/>
          </p:cNvPicPr>
          <p:nvPr/>
        </p:nvPicPr>
        <p:blipFill>
          <a:blip r:embed="rId2">
            <a:extLst>
              <a:ext uri="{96DAC541-7B7A-43D3-8B79-37D633B846F1}">
                <asvg:svgBlip xmlns:asvg="http://schemas.microsoft.com/office/drawing/2016/SVG/main" r:embed="rId7"/>
              </a:ext>
            </a:extLst>
          </a:blip>
          <a:stretch>
            <a:fillRect/>
          </a:stretch>
        </p:blipFill>
        <p:spPr>
          <a:xfrm>
            <a:off x="8690372" y="4638199"/>
            <a:ext cx="366593" cy="366593"/>
          </a:xfrm>
          <a:prstGeom prst="rect">
            <a:avLst/>
          </a:prstGeom>
        </p:spPr>
      </p:pic>
      <p:sp>
        <p:nvSpPr>
          <p:cNvPr id="17" name="Text 9"/>
          <p:cNvSpPr/>
          <p:nvPr/>
        </p:nvSpPr>
        <p:spPr>
          <a:xfrm>
            <a:off x="9942790" y="5571887"/>
            <a:ext cx="3329464" cy="382786"/>
          </a:xfrm>
          <a:prstGeom prst="rect">
            <a:avLst/>
          </a:prstGeom>
          <a:noFill/>
        </p:spPr>
        <p:txBody>
          <a:bodyPr wrap="none" lIns="0" tIns="0" rIns="0" bIns="0" rtlCol="0" anchor="t"/>
          <a:lstStyle/>
          <a:p>
            <a:pPr marL="0" indent="0" algn="l">
              <a:lnSpc>
                <a:spcPts val="3000"/>
              </a:lnSpc>
              <a:buNone/>
            </a:pPr>
            <a:r>
              <a:rPr lang="en-US" sz="24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Communication Agent</a:t>
            </a:r>
            <a:endParaRPr lang="en-US" sz="2400" dirty="0"/>
          </a:p>
        </p:txBody>
      </p:sp>
      <p:sp>
        <p:nvSpPr>
          <p:cNvPr id="18" name="Text 10"/>
          <p:cNvSpPr/>
          <p:nvPr/>
        </p:nvSpPr>
        <p:spPr>
          <a:xfrm>
            <a:off x="9942790" y="6100524"/>
            <a:ext cx="3830122" cy="781050"/>
          </a:xfrm>
          <a:prstGeom prst="rect">
            <a:avLst/>
          </a:prstGeom>
          <a:noFill/>
        </p:spPr>
        <p:txBody>
          <a:bodyPr wrap="square" lIns="0" tIns="0" rIns="0" bIns="0" rtlCol="0" anchor="t"/>
          <a:lstStyle/>
          <a:p>
            <a:pPr marL="0" indent="0" algn="l">
              <a:lnSpc>
                <a:spcPts val="30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Handles alert dissemination and coordination.</a:t>
            </a:r>
            <a:endParaRPr lang="en-US" sz="1900" dirty="0"/>
          </a:p>
        </p:txBody>
      </p:sp>
      <p:pic>
        <p:nvPicPr>
          <p:cNvPr id="19" name="Image 6" descr="preencoded.png"/>
          <p:cNvPicPr>
            <a:picLocks noChangeAspect="1"/>
          </p:cNvPicPr>
          <p:nvPr/>
        </p:nvPicPr>
        <p:blipFill>
          <a:blip r:embed="rId8"/>
          <a:stretch>
            <a:fillRect/>
          </a:stretch>
        </p:blipFill>
        <p:spPr>
          <a:xfrm>
            <a:off x="5055037" y="2289453"/>
            <a:ext cx="4520327" cy="4520327"/>
          </a:xfrm>
          <a:prstGeom prst="rect">
            <a:avLst/>
          </a:prstGeom>
        </p:spPr>
      </p:pic>
      <p:pic>
        <p:nvPicPr>
          <p:cNvPr id="20" name="Image 7" descr="preencoded.png"/>
          <p:cNvPicPr>
            <a:picLocks noChangeAspect="1"/>
          </p:cNvPicPr>
          <p:nvPr/>
        </p:nvPicPr>
        <p:blipFill>
          <a:blip r:embed="rId2">
            <a:extLst>
              <a:ext uri="{96DAC541-7B7A-43D3-8B79-37D633B846F1}">
                <asvg:svgBlip xmlns:asvg="http://schemas.microsoft.com/office/drawing/2016/SVG/main" r:embed="rId9"/>
              </a:ext>
            </a:extLst>
          </a:blip>
          <a:stretch>
            <a:fillRect/>
          </a:stretch>
        </p:blipFill>
        <p:spPr>
          <a:xfrm>
            <a:off x="7354729" y="5932527"/>
            <a:ext cx="366593" cy="366593"/>
          </a:xfrm>
          <a:prstGeom prst="rect">
            <a:avLst/>
          </a:prstGeom>
        </p:spPr>
      </p:pic>
      <p:sp>
        <p:nvSpPr>
          <p:cNvPr id="21" name="Text 11"/>
          <p:cNvSpPr/>
          <p:nvPr/>
        </p:nvSpPr>
        <p:spPr>
          <a:xfrm>
            <a:off x="857488" y="4961215"/>
            <a:ext cx="3830122" cy="765572"/>
          </a:xfrm>
          <a:prstGeom prst="rect">
            <a:avLst/>
          </a:prstGeom>
          <a:noFill/>
        </p:spPr>
        <p:txBody>
          <a:bodyPr wrap="square" lIns="0" tIns="0" rIns="0" bIns="0" rtlCol="0" anchor="t"/>
          <a:lstStyle/>
          <a:p>
            <a:pPr marL="0" indent="0" algn="r">
              <a:lnSpc>
                <a:spcPts val="3000"/>
              </a:lnSpc>
              <a:buNone/>
            </a:pPr>
            <a:r>
              <a:rPr lang="en-US" sz="24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Learning &amp; Feedback Agent</a:t>
            </a:r>
            <a:endParaRPr lang="en-US" sz="2400" dirty="0"/>
          </a:p>
        </p:txBody>
      </p:sp>
      <p:sp>
        <p:nvSpPr>
          <p:cNvPr id="22" name="Text 12"/>
          <p:cNvSpPr/>
          <p:nvPr/>
        </p:nvSpPr>
        <p:spPr>
          <a:xfrm>
            <a:off x="857488" y="5872639"/>
            <a:ext cx="3830122" cy="781050"/>
          </a:xfrm>
          <a:prstGeom prst="rect">
            <a:avLst/>
          </a:prstGeom>
          <a:noFill/>
        </p:spPr>
        <p:txBody>
          <a:bodyPr wrap="square" lIns="0" tIns="0" rIns="0" bIns="0" rtlCol="0" anchor="t"/>
          <a:lstStyle/>
          <a:p>
            <a:pPr marL="0" indent="0" algn="r">
              <a:lnSpc>
                <a:spcPts val="30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Evaluates system performance and updates models.</a:t>
            </a:r>
            <a:endParaRPr lang="en-US" sz="1900" dirty="0"/>
          </a:p>
        </p:txBody>
      </p:sp>
      <p:pic>
        <p:nvPicPr>
          <p:cNvPr id="23" name="Image 8" descr="preencoded.png"/>
          <p:cNvPicPr>
            <a:picLocks noChangeAspect="1"/>
          </p:cNvPicPr>
          <p:nvPr/>
        </p:nvPicPr>
        <p:blipFill>
          <a:blip r:embed="rId10"/>
          <a:stretch>
            <a:fillRect/>
          </a:stretch>
        </p:blipFill>
        <p:spPr>
          <a:xfrm>
            <a:off x="5055037" y="2289453"/>
            <a:ext cx="4520327" cy="4520327"/>
          </a:xfrm>
          <a:prstGeom prst="rect">
            <a:avLst/>
          </a:prstGeom>
        </p:spPr>
      </p:pic>
      <p:pic>
        <p:nvPicPr>
          <p:cNvPr id="24" name="Image 9" descr="preencoded.png"/>
          <p:cNvPicPr>
            <a:picLocks noChangeAspect="1"/>
          </p:cNvPicPr>
          <p:nvPr/>
        </p:nvPicPr>
        <p:blipFill>
          <a:blip r:embed="rId2">
            <a:extLst>
              <a:ext uri="{96DAC541-7B7A-43D3-8B79-37D633B846F1}">
                <asvg:svgBlip xmlns:asvg="http://schemas.microsoft.com/office/drawing/2016/SVG/main" r:embed="rId11"/>
              </a:ext>
            </a:extLst>
          </a:blip>
          <a:stretch>
            <a:fillRect/>
          </a:stretch>
        </p:blipFill>
        <p:spPr>
          <a:xfrm>
            <a:off x="5710952" y="5062180"/>
            <a:ext cx="366593" cy="366593"/>
          </a:xfrm>
          <a:prstGeom prst="rect">
            <a:avLst/>
          </a:prstGeom>
        </p:spPr>
      </p:pic>
      <p:sp>
        <p:nvSpPr>
          <p:cNvPr id="25" name="Text 13"/>
          <p:cNvSpPr/>
          <p:nvPr/>
        </p:nvSpPr>
        <p:spPr>
          <a:xfrm>
            <a:off x="857488" y="7155180"/>
            <a:ext cx="12915424" cy="390525"/>
          </a:xfrm>
          <a:prstGeom prst="rect">
            <a:avLst/>
          </a:prstGeom>
          <a:noFill/>
        </p:spPr>
        <p:txBody>
          <a:bodyPr wrap="none" lIns="0" tIns="0" rIns="0" bIns="0" rtlCol="0" anchor="t"/>
          <a:lstStyle/>
          <a:p>
            <a:pPr marL="0" indent="0" algn="l">
              <a:lnSpc>
                <a:spcPts val="305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Each agent plays a crucial role, working collaboratively to enhance response effectiveness.</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63798" y="1052751"/>
            <a:ext cx="1581864" cy="463868"/>
          </a:xfrm>
          <a:prstGeom prst="roundRect">
            <a:avLst>
              <a:gd name="adj" fmla="val 17879"/>
            </a:avLst>
          </a:prstGeom>
          <a:solidFill>
            <a:srgbClr val="001D4D"/>
          </a:solidFill>
        </p:spPr>
      </p:sp>
      <p:sp>
        <p:nvSpPr>
          <p:cNvPr id="3" name="Text 1"/>
          <p:cNvSpPr/>
          <p:nvPr/>
        </p:nvSpPr>
        <p:spPr>
          <a:xfrm>
            <a:off x="1011793" y="1126688"/>
            <a:ext cx="1285875" cy="315992"/>
          </a:xfrm>
          <a:prstGeom prst="rect">
            <a:avLst/>
          </a:prstGeom>
          <a:noFill/>
        </p:spPr>
        <p:txBody>
          <a:bodyPr wrap="none" lIns="0" tIns="0" rIns="0" bIns="0" rtlCol="0" anchor="t"/>
          <a:lstStyle/>
          <a:p>
            <a:pPr marL="0" indent="0" algn="l">
              <a:lnSpc>
                <a:spcPts val="2450"/>
              </a:lnSpc>
              <a:buNone/>
            </a:pPr>
            <a:r>
              <a:rPr lang="en-US" sz="155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CONCLUSION</a:t>
            </a:r>
            <a:endParaRPr lang="en-US" sz="1550" dirty="0"/>
          </a:p>
        </p:txBody>
      </p:sp>
      <p:sp>
        <p:nvSpPr>
          <p:cNvPr id="4" name="Text 2"/>
          <p:cNvSpPr/>
          <p:nvPr/>
        </p:nvSpPr>
        <p:spPr>
          <a:xfrm>
            <a:off x="863798" y="1615321"/>
            <a:ext cx="7313176" cy="616982"/>
          </a:xfrm>
          <a:prstGeom prst="rect">
            <a:avLst/>
          </a:prstGeom>
          <a:noFill/>
        </p:spPr>
        <p:txBody>
          <a:bodyPr wrap="none" lIns="0" tIns="0" rIns="0" bIns="0" rtlCol="0" anchor="t"/>
          <a:lstStyle/>
          <a:p>
            <a:pPr marL="0" indent="0" algn="l">
              <a:lnSpc>
                <a:spcPts val="4850"/>
              </a:lnSpc>
              <a:buNone/>
            </a:pPr>
            <a:r>
              <a:rPr lang="en-US" sz="385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The Impact of AGENT-RESCUE</a:t>
            </a:r>
            <a:endParaRPr lang="en-US" sz="3850" dirty="0"/>
          </a:p>
        </p:txBody>
      </p:sp>
      <p:sp>
        <p:nvSpPr>
          <p:cNvPr id="5" name="Text 3"/>
          <p:cNvSpPr/>
          <p:nvPr/>
        </p:nvSpPr>
        <p:spPr>
          <a:xfrm>
            <a:off x="863798" y="2849285"/>
            <a:ext cx="5353883" cy="385524"/>
          </a:xfrm>
          <a:prstGeom prst="rect">
            <a:avLst/>
          </a:prstGeom>
          <a:noFill/>
        </p:spPr>
        <p:txBody>
          <a:bodyPr wrap="none" lIns="0" tIns="0" rIns="0" bIns="0" rtlCol="0" anchor="t"/>
          <a:lstStyle/>
          <a:p>
            <a:pPr marL="0" indent="0" algn="l">
              <a:lnSpc>
                <a:spcPts val="3000"/>
              </a:lnSpc>
              <a:buNone/>
            </a:pPr>
            <a:r>
              <a:rPr lang="en-US" sz="24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Enhanced Preparedness &amp; Response</a:t>
            </a:r>
            <a:endParaRPr lang="en-US" sz="2400" dirty="0"/>
          </a:p>
        </p:txBody>
      </p:sp>
      <p:sp>
        <p:nvSpPr>
          <p:cNvPr id="6" name="Text 4"/>
          <p:cNvSpPr/>
          <p:nvPr/>
        </p:nvSpPr>
        <p:spPr>
          <a:xfrm>
            <a:off x="863798" y="3481626"/>
            <a:ext cx="6150293" cy="1974654"/>
          </a:xfrm>
          <a:prstGeom prst="rect">
            <a:avLst/>
          </a:prstGeom>
          <a:noFill/>
        </p:spPr>
        <p:txBody>
          <a:bodyPr wrap="square" lIns="0" tIns="0" rIns="0" bIns="0" rtlCol="0" anchor="t"/>
          <a:lstStyle/>
          <a:p>
            <a:pPr marL="342900" indent="-342900" algn="l">
              <a:lnSpc>
                <a:spcPts val="3100"/>
              </a:lnSpc>
              <a:buSzPct val="100000"/>
              <a:buChar char="•"/>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Reduces response time significantly.</a:t>
            </a:r>
            <a:endParaRPr lang="en-US" sz="1900" dirty="0"/>
          </a:p>
          <a:p>
            <a:pPr marL="342900" indent="-342900" algn="l">
              <a:lnSpc>
                <a:spcPts val="3100"/>
              </a:lnSpc>
              <a:buSzPct val="100000"/>
              <a:buChar char="•"/>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Improves coordination among emergency services.</a:t>
            </a:r>
            <a:endParaRPr lang="en-US" sz="1900" dirty="0"/>
          </a:p>
          <a:p>
            <a:pPr marL="342900" indent="-342900" algn="l">
              <a:lnSpc>
                <a:spcPts val="3100"/>
              </a:lnSpc>
              <a:buSzPct val="100000"/>
              <a:buChar char="•"/>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Supports informed decision-making during critical situations.</a:t>
            </a:r>
            <a:endParaRPr lang="en-US" sz="1900" dirty="0"/>
          </a:p>
        </p:txBody>
      </p:sp>
      <p:sp>
        <p:nvSpPr>
          <p:cNvPr id="7" name="Shape 5"/>
          <p:cNvSpPr/>
          <p:nvPr/>
        </p:nvSpPr>
        <p:spPr>
          <a:xfrm>
            <a:off x="7446169" y="2602468"/>
            <a:ext cx="6505813" cy="3506986"/>
          </a:xfrm>
          <a:prstGeom prst="roundRect">
            <a:avLst>
              <a:gd name="adj" fmla="val 5068"/>
            </a:avLst>
          </a:prstGeom>
          <a:solidFill>
            <a:srgbClr val="2150FE">
              <a:alpha val="95000"/>
            </a:srgbClr>
          </a:solidFill>
        </p:spPr>
      </p:sp>
      <p:sp>
        <p:nvSpPr>
          <p:cNvPr id="8" name="Text 6"/>
          <p:cNvSpPr/>
          <p:nvPr/>
        </p:nvSpPr>
        <p:spPr>
          <a:xfrm>
            <a:off x="7692985" y="2849285"/>
            <a:ext cx="4981456" cy="385524"/>
          </a:xfrm>
          <a:prstGeom prst="rect">
            <a:avLst/>
          </a:prstGeom>
          <a:noFill/>
        </p:spPr>
        <p:txBody>
          <a:bodyPr wrap="none" lIns="0" tIns="0" rIns="0" bIns="0" rtlCol="0" anchor="t"/>
          <a:lstStyle/>
          <a:p>
            <a:pPr marL="0" indent="0" algn="l">
              <a:lnSpc>
                <a:spcPts val="3000"/>
              </a:lnSpc>
              <a:buNone/>
            </a:pPr>
            <a:r>
              <a:rPr lang="en-US" sz="24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rPr>
              <a:t>Future-Proofing Urban Resilience</a:t>
            </a:r>
            <a:endParaRPr lang="en-US" sz="2400" dirty="0"/>
          </a:p>
        </p:txBody>
      </p:sp>
      <p:sp>
        <p:nvSpPr>
          <p:cNvPr id="9" name="Text 7"/>
          <p:cNvSpPr/>
          <p:nvPr/>
        </p:nvSpPr>
        <p:spPr>
          <a:xfrm>
            <a:off x="7692985" y="3481626"/>
            <a:ext cx="6012180" cy="2369585"/>
          </a:xfrm>
          <a:prstGeom prst="rect">
            <a:avLst/>
          </a:prstGeom>
          <a:noFill/>
        </p:spPr>
        <p:txBody>
          <a:bodyPr wrap="square" lIns="0" tIns="0" rIns="0" bIns="0" rtlCol="0" anchor="t"/>
          <a:lstStyle/>
          <a:p>
            <a:pPr marL="342900" indent="-342900" algn="l">
              <a:lnSpc>
                <a:spcPts val="3100"/>
              </a:lnSpc>
              <a:buSzPct val="100000"/>
              <a:buChar char="•"/>
            </a:pPr>
            <a:r>
              <a:rPr lang="en-US" sz="1900"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Modular and scalable architecture for future smart city integrations.</a:t>
            </a:r>
            <a:endParaRPr lang="en-US" sz="1900" dirty="0"/>
          </a:p>
          <a:p>
            <a:pPr marL="342900" indent="-342900" algn="l">
              <a:lnSpc>
                <a:spcPts val="3100"/>
              </a:lnSpc>
              <a:buSzPct val="100000"/>
              <a:buChar char="•"/>
            </a:pPr>
            <a:r>
              <a:rPr lang="en-US" sz="1900"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Foundational for research and real-world deployment of autonomous AI.</a:t>
            </a:r>
            <a:endParaRPr lang="en-US" sz="1900" dirty="0"/>
          </a:p>
          <a:p>
            <a:pPr marL="342900" indent="-342900" algn="l">
              <a:lnSpc>
                <a:spcPts val="3100"/>
              </a:lnSpc>
              <a:buSzPct val="100000"/>
              <a:buChar char="•"/>
            </a:pPr>
            <a:r>
              <a:rPr lang="en-US" sz="1900" dirty="0">
                <a:solidFill>
                  <a:srgbClr val="FFFFFF"/>
                </a:solidFill>
                <a:latin typeface="Merriweather" panose="00000500000000000000" pitchFamily="34" charset="0"/>
                <a:ea typeface="Merriweather" panose="00000500000000000000" pitchFamily="34" charset="-122"/>
                <a:cs typeface="Merriweather" panose="00000500000000000000" pitchFamily="34" charset="-120"/>
              </a:rPr>
              <a:t>Contributes practical solutions for urban emergency management.</a:t>
            </a:r>
            <a:endParaRPr lang="en-US" sz="1900" dirty="0"/>
          </a:p>
        </p:txBody>
      </p:sp>
      <p:sp>
        <p:nvSpPr>
          <p:cNvPr id="10" name="Text 8"/>
          <p:cNvSpPr/>
          <p:nvPr/>
        </p:nvSpPr>
        <p:spPr>
          <a:xfrm>
            <a:off x="863798" y="6043143"/>
            <a:ext cx="12902803" cy="789622"/>
          </a:xfrm>
          <a:prstGeom prst="rect">
            <a:avLst/>
          </a:prstGeom>
          <a:noFill/>
        </p:spPr>
        <p:txBody>
          <a:bodyPr wrap="square" lIns="0" tIns="0" rIns="0" bIns="0" rtlCol="0" anchor="t"/>
          <a:lstStyle/>
          <a:p>
            <a:pPr marL="0" indent="0" algn="l">
              <a:lnSpc>
                <a:spcPts val="3100"/>
              </a:lnSpc>
              <a:buNone/>
            </a:pPr>
            <a:endPar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endParaRPr>
          </a:p>
          <a:p>
            <a:pPr marL="0" indent="0" algn="l">
              <a:lnSpc>
                <a:spcPts val="3100"/>
              </a:lnSpc>
              <a:buNone/>
            </a:pPr>
            <a:r>
              <a:rPr lang="en-US" sz="1900" dirty="0">
                <a:solidFill>
                  <a:srgbClr val="E2E6E9"/>
                </a:solidFill>
                <a:latin typeface="Merriweather" panose="00000500000000000000" pitchFamily="34" charset="0"/>
                <a:ea typeface="Merriweather" panose="00000500000000000000" pitchFamily="34" charset="-122"/>
                <a:cs typeface="Merriweather" panose="00000500000000000000" pitchFamily="34" charset="-120"/>
              </a:rPr>
              <a:t>AGENT-RESCUE is not just a system; it's a leap forward in ensuring the safety and resilience of our urban environments.</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57600" y="3446780"/>
            <a:ext cx="7315200" cy="713105"/>
          </a:xfrm>
          <a:prstGeom prst="rect">
            <a:avLst/>
          </a:prstGeom>
          <a:noFill/>
        </p:spPr>
        <p:txBody>
          <a:bodyPr wrap="square" rtlCol="0" anchor="t">
            <a:spAutoFit/>
          </a:bodyPr>
          <a:p>
            <a:pPr marL="0" indent="0" algn="ctr">
              <a:lnSpc>
                <a:spcPts val="4850"/>
              </a:lnSpc>
              <a:buNone/>
            </a:pPr>
            <a:r>
              <a:rPr lang="en-IN" altLang="en-US" sz="96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sym typeface="+mn-ea"/>
              </a:rPr>
              <a:t>Thank you!</a:t>
            </a:r>
            <a:endParaRPr lang="en-IN" altLang="en-US" sz="9600" dirty="0">
              <a:solidFill>
                <a:srgbClr val="F5F0F0"/>
              </a:solidFill>
              <a:latin typeface="Merriweather" panose="00000500000000000000" pitchFamily="34" charset="0"/>
              <a:ea typeface="Merriweather" panose="00000500000000000000" pitchFamily="34" charset="-122"/>
              <a:cs typeface="Merriweather" panose="00000500000000000000" pitchFamily="34" charset="-120"/>
              <a:sym typeface="+mn-ea"/>
            </a:endParaRPr>
          </a:p>
        </p:txBody>
      </p:sp>
    </p:spTree>
  </p:cSld>
  <p:clrMapOvr>
    <a:masterClrMapping/>
  </p:clrMapOvr>
</p:sld>
</file>

<file path=ppt/tags/tag1.xml><?xml version="1.0" encoding="utf-8"?>
<p:tagLst xmlns:p="http://schemas.openxmlformats.org/presentationml/2006/main">
  <p:tag name="KSO_WM_DIAGRAM_VIRTUALLY_FRAME" val="{&quot;height&quot;:435.29062992126,&quot;left&quot;:82.5,&quot;top&quot;:143.2281102362205,&quot;width&quot;:995.2}"/>
</p:tagLst>
</file>

<file path=ppt/tags/tag2.xml><?xml version="1.0" encoding="utf-8"?>
<p:tagLst xmlns:p="http://schemas.openxmlformats.org/presentationml/2006/main">
  <p:tag name="KSO_WM_DIAGRAM_VIRTUALLY_FRAME" val="{&quot;height&quot;:435.29062992126,&quot;left&quot;:82.5,&quot;top&quot;:143.2281102362205,&quot;width&quot;:995.2}"/>
</p:tagLst>
</file>

<file path=ppt/tags/tag3.xml><?xml version="1.0" encoding="utf-8"?>
<p:tagLst xmlns:p="http://schemas.openxmlformats.org/presentationml/2006/main">
  <p:tag name="KSO_WM_DIAGRAM_VIRTUALLY_FRAME" val="{&quot;height&quot;:435.29062992126,&quot;left&quot;:82.5,&quot;top&quot;:143.2281102362205,&quot;width&quot;:995.2}"/>
</p:tagLst>
</file>

<file path=ppt/tags/tag4.xml><?xml version="1.0" encoding="utf-8"?>
<p:tagLst xmlns:p="http://schemas.openxmlformats.org/presentationml/2006/main">
  <p:tag name="KSO_WM_DIAGRAM_VIRTUALLY_FRAME" val="{&quot;height&quot;:435.29062992126,&quot;left&quot;:82.5,&quot;top&quot;:143.2281102362205,&quot;width&quot;:995.2}"/>
</p:tagLst>
</file>

<file path=ppt/tags/tag5.xml><?xml version="1.0" encoding="utf-8"?>
<p:tagLst xmlns:p="http://schemas.openxmlformats.org/presentationml/2006/main">
  <p:tag name="KSO_WM_DIAGRAM_VIRTUALLY_FRAME" val="{&quot;height&quot;:435.29062992126,&quot;left&quot;:82.5,&quot;top&quot;:143.2281102362205,&quot;width&quot;:995.2}"/>
</p:tagLst>
</file>

<file path=ppt/tags/tag6.xml><?xml version="1.0" encoding="utf-8"?>
<p:tagLst xmlns:p="http://schemas.openxmlformats.org/presentationml/2006/main">
  <p:tag name="KSO_WM_DIAGRAM_VIRTUALLY_FRAME" val="{&quot;height&quot;:435.29062992126,&quot;left&quot;:82.5,&quot;top&quot;:143.2281102362205,&quot;width&quot;:995.2}"/>
</p:tagLst>
</file>

<file path=ppt/tags/tag7.xml><?xml version="1.0" encoding="utf-8"?>
<p:tagLst xmlns:p="http://schemas.openxmlformats.org/presentationml/2006/main">
  <p:tag name="KSO_WM_DIAGRAM_VIRTUALLY_FRAME" val="{&quot;height&quot;:435.29062992126,&quot;left&quot;:82.5,&quot;top&quot;:143.2281102362205,&quot;width&quot;:995.2}"/>
</p:tagLst>
</file>

<file path=ppt/tags/tag8.xml><?xml version="1.0" encoding="utf-8"?>
<p:tagLst xmlns:p="http://schemas.openxmlformats.org/presentationml/2006/main">
  <p:tag name="KSO_WM_DIAGRAM_VIRTUALLY_FRAME" val="{&quot;height&quot;:435.29062992126,&quot;left&quot;:82.5,&quot;top&quot;:143.2281102362205,&quot;width&quot;:995.2}"/>
</p:tagLst>
</file>

<file path=ppt/tags/tag9.xml><?xml version="1.0" encoding="utf-8"?>
<p:tagLst xmlns:p="http://schemas.openxmlformats.org/presentationml/2006/main">
  <p:tag name="KSO_WM_DIAGRAM_VIRTUALLY_FRAME" val="{&quot;height&quot;:435.29062992126,&quot;left&quot;:82.5,&quot;top&quot;:143.2281102362205,&quot;width&quot;:995.2}"/>
</p:tagLst>
</file>

<file path=ppt/tags/tag10.xml><?xml version="1.0" encoding="utf-8"?>
<p:tagLst xmlns:p="http://schemas.openxmlformats.org/presentationml/2006/main">
  <p:tag name="KSO_WM_DIAGRAM_VIRTUALLY_FRAME" val="{&quot;height&quot;:435.29062992126,&quot;left&quot;:82.5,&quot;top&quot;:143.2281102362205,&quot;width&quot;:995.2}"/>
</p:tagLst>
</file>

<file path=ppt/tags/tag11.xml><?xml version="1.0" encoding="utf-8"?>
<p:tagLst xmlns:p="http://schemas.openxmlformats.org/presentationml/2006/main">
  <p:tag name="KSO_WM_DIAGRAM_VIRTUALLY_FRAME" val="{&quot;height&quot;:435.29062992126,&quot;left&quot;:82.5,&quot;top&quot;:143.2281102362205,&quot;width&quot;:995.2}"/>
</p:tagLst>
</file>

<file path=ppt/tags/tag12.xml><?xml version="1.0" encoding="utf-8"?>
<p:tagLst xmlns:p="http://schemas.openxmlformats.org/presentationml/2006/main">
  <p:tag name="KSO_WM_DIAGRAM_VIRTUALLY_FRAME" val="{&quot;height&quot;:435.29062992126,&quot;left&quot;:82.5,&quot;top&quot;:143.2281102362205,&quot;width&quot;:995.2}"/>
</p:tagLst>
</file>

<file path=ppt/tags/tag13.xml><?xml version="1.0" encoding="utf-8"?>
<p:tagLst xmlns:p="http://schemas.openxmlformats.org/presentationml/2006/main">
  <p:tag name="KSO_WM_DIAGRAM_VIRTUALLY_FRAME" val="{&quot;height&quot;:435.29062992126,&quot;left&quot;:82.5,&quot;top&quot;:143.2281102362205,&quot;width&quot;:995.2}"/>
</p:tagLst>
</file>

<file path=ppt/tags/tag14.xml><?xml version="1.0" encoding="utf-8"?>
<p:tagLst xmlns:p="http://schemas.openxmlformats.org/presentationml/2006/main">
  <p:tag name="KSO_WM_DIAGRAM_VIRTUALLY_FRAME" val="{&quot;height&quot;:435.29062992126,&quot;left&quot;:82.5,&quot;top&quot;:143.2281102362205,&quot;width&quot;:995.2}"/>
</p:tagLst>
</file>

<file path=ppt/tags/tag15.xml><?xml version="1.0" encoding="utf-8"?>
<p:tagLst xmlns:p="http://schemas.openxmlformats.org/presentationml/2006/main">
  <p:tag name="KSO_WM_DIAGRAM_VIRTUALLY_FRAME" val="{&quot;height&quot;:435.29062992126,&quot;left&quot;:82.5,&quot;top&quot;:143.2281102362205,&quot;width&quot;:995.2}"/>
</p:tagLst>
</file>

<file path=ppt/tags/tag16.xml><?xml version="1.0" encoding="utf-8"?>
<p:tagLst xmlns:p="http://schemas.openxmlformats.org/presentationml/2006/main">
  <p:tag name="KSO_WM_DIAGRAM_VIRTUALLY_FRAME" val="{&quot;height&quot;:435.29062992126,&quot;left&quot;:82.5,&quot;top&quot;:143.2281102362205,&quot;width&quot;:995.2}"/>
</p:tagLst>
</file>

<file path=ppt/tags/tag17.xml><?xml version="1.0" encoding="utf-8"?>
<p:tagLst xmlns:p="http://schemas.openxmlformats.org/presentationml/2006/main">
  <p:tag name="KSO_WM_DIAGRAM_VIRTUALLY_FRAME" val="{&quot;height&quot;:435.29062992126,&quot;left&quot;:82.5,&quot;top&quot;:143.2281102362205,&quot;width&quot;:995.2}"/>
</p:tagLst>
</file>

<file path=ppt/tags/tag18.xml><?xml version="1.0" encoding="utf-8"?>
<p:tagLst xmlns:p="http://schemas.openxmlformats.org/presentationml/2006/main">
  <p:tag name="KSO_WM_DIAGRAM_VIRTUALLY_FRAME" val="{&quot;height&quot;:435.29062992126,&quot;left&quot;:82.5,&quot;top&quot;:143.2281102362205,&quot;width&quot;:995.2}"/>
</p:tagLst>
</file>

<file path=ppt/tags/tag19.xml><?xml version="1.0" encoding="utf-8"?>
<p:tagLst xmlns:p="http://schemas.openxmlformats.org/presentationml/2006/main">
  <p:tag name="KSO_WM_DIAGRAM_VIRTUALLY_FRAME" val="{&quot;height&quot;:435.29062992126,&quot;left&quot;:82.5,&quot;top&quot;:143.2281102362205,&quot;width&quot;:995.2}"/>
</p:tagLst>
</file>

<file path=ppt/tags/tag20.xml><?xml version="1.0" encoding="utf-8"?>
<p:tagLst xmlns:p="http://schemas.openxmlformats.org/presentationml/2006/main">
  <p:tag name="KSO_WM_DIAGRAM_VIRTUALLY_FRAME" val="{&quot;height&quot;:435.29062992126,&quot;left&quot;:82.5,&quot;top&quot;:143.2281102362205,&quot;width&quot;:995.2}"/>
</p:tagLst>
</file>

<file path=ppt/tags/tag21.xml><?xml version="1.0" encoding="utf-8"?>
<p:tagLst xmlns:p="http://schemas.openxmlformats.org/presentationml/2006/main">
  <p:tag name="KSO_WM_DIAGRAM_VIRTUALLY_FRAME" val="{&quot;height&quot;:435.29062992126,&quot;left&quot;:82.5,&quot;top&quot;:143.2281102362205,&quot;width&quot;:995.2}"/>
</p:tagLst>
</file>

<file path=ppt/tags/tag22.xml><?xml version="1.0" encoding="utf-8"?>
<p:tagLst xmlns:p="http://schemas.openxmlformats.org/presentationml/2006/main">
  <p:tag name="KSO_WM_DIAGRAM_VIRTUALLY_FRAME" val="{&quot;height&quot;:435.29062992126,&quot;left&quot;:82.5,&quot;top&quot;:143.2281102362205,&quot;width&quot;:995.2}"/>
</p:tagLst>
</file>

<file path=ppt/tags/tag23.xml><?xml version="1.0" encoding="utf-8"?>
<p:tagLst xmlns:p="http://schemas.openxmlformats.org/presentationml/2006/main">
  <p:tag name="KSO_WM_DIAGRAM_VIRTUALLY_FRAME" val="{&quot;height&quot;:435.29062992126,&quot;left&quot;:82.5,&quot;top&quot;:143.2281102362205,&quot;width&quot;:995.2}"/>
</p:tagLst>
</file>

<file path=ppt/tags/tag24.xml><?xml version="1.0" encoding="utf-8"?>
<p:tagLst xmlns:p="http://schemas.openxmlformats.org/presentationml/2006/main">
  <p:tag name="KSO_WM_DIAGRAM_VIRTUALLY_FRAME" val="{&quot;height&quot;:435.29062992126,&quot;left&quot;:82.5,&quot;top&quot;:143.2281102362205,&quot;width&quot;:995.2}"/>
</p:tagLst>
</file>

<file path=ppt/tags/tag25.xml><?xml version="1.0" encoding="utf-8"?>
<p:tagLst xmlns:p="http://schemas.openxmlformats.org/presentationml/2006/main">
  <p:tag name="KSO_WM_DIAGRAM_VIRTUALLY_FRAME" val="{&quot;height&quot;:435.29062992126,&quot;left&quot;:82.5,&quot;top&quot;:143.2281102362205,&quot;width&quot;:995.2}"/>
</p:tagLst>
</file>

<file path=ppt/tags/tag26.xml><?xml version="1.0" encoding="utf-8"?>
<p:tagLst xmlns:p="http://schemas.openxmlformats.org/presentationml/2006/main">
  <p:tag name="KSO_WM_DIAGRAM_VIRTUALLY_FRAME" val="{&quot;height&quot;:435.29062992126,&quot;left&quot;:82.5,&quot;top&quot;:143.2281102362205,&quot;width&quot;:995.2}"/>
</p:tagLst>
</file>

<file path=ppt/tags/tag27.xml><?xml version="1.0" encoding="utf-8"?>
<p:tagLst xmlns:p="http://schemas.openxmlformats.org/presentationml/2006/main">
  <p:tag name="KSO_WM_DIAGRAM_VIRTUALLY_FRAME" val="{&quot;height&quot;:435.29062992126,&quot;left&quot;:82.5,&quot;top&quot;:143.2281102362205,&quot;width&quot;:995.2}"/>
</p:tagLst>
</file>

<file path=ppt/tags/tag28.xml><?xml version="1.0" encoding="utf-8"?>
<p:tagLst xmlns:p="http://schemas.openxmlformats.org/presentationml/2006/main">
  <p:tag name="KSO_WM_DIAGRAM_VIRTUALLY_FRAME" val="{&quot;height&quot;:435.29062992126,&quot;left&quot;:82.5,&quot;top&quot;:143.2281102362205,&quot;width&quot;:995.2}"/>
</p:tagLst>
</file>

<file path=ppt/tags/tag29.xml><?xml version="1.0" encoding="utf-8"?>
<p:tagLst xmlns:p="http://schemas.openxmlformats.org/presentationml/2006/main">
  <p:tag name="KSO_WM_DIAGRAM_VIRTUALLY_FRAME" val="{&quot;height&quot;:435.29062992126,&quot;left&quot;:82.5,&quot;top&quot;:143.2281102362205,&quot;width&quot;:995.2}"/>
</p:tagLst>
</file>

<file path=ppt/tags/tag30.xml><?xml version="1.0" encoding="utf-8"?>
<p:tagLst xmlns:p="http://schemas.openxmlformats.org/presentationml/2006/main">
  <p:tag name="KSO_WM_DIAGRAM_VIRTUALLY_FRAME" val="{&quot;height&quot;:435.29062992126,&quot;left&quot;:82.5,&quot;top&quot;:143.2281102362205,&quot;width&quot;:995.2}"/>
</p:tagLst>
</file>

<file path=ppt/tags/tag31.xml><?xml version="1.0" encoding="utf-8"?>
<p:tagLst xmlns:p="http://schemas.openxmlformats.org/presentationml/2006/main">
  <p:tag name="KSO_WM_DIAGRAM_VIRTUALLY_FRAME" val="{&quot;height&quot;:435.29062992126,&quot;left&quot;:82.5,&quot;top&quot;:143.2281102362205,&quot;width&quot;:995.2}"/>
</p:tagLst>
</file>

<file path=ppt/tags/tag32.xml><?xml version="1.0" encoding="utf-8"?>
<p:tagLst xmlns:p="http://schemas.openxmlformats.org/presentationml/2006/main">
  <p:tag name="KSO_WM_DIAGRAM_VIRTUALLY_FRAME" val="{&quot;height&quot;:435.29062992126,&quot;left&quot;:82.5,&quot;top&quot;:143.2281102362205,&quot;width&quot;:995.2}"/>
</p:tagLst>
</file>

<file path=ppt/tags/tag33.xml><?xml version="1.0" encoding="utf-8"?>
<p:tagLst xmlns:p="http://schemas.openxmlformats.org/presentationml/2006/main">
  <p:tag name="KSO_WM_DIAGRAM_VIRTUALLY_FRAME" val="{&quot;height&quot;:435.29062992126,&quot;left&quot;:82.5,&quot;top&quot;:143.2281102362205,&quot;width&quot;:995.2}"/>
</p:tagLst>
</file>

<file path=ppt/tags/tag34.xml><?xml version="1.0" encoding="utf-8"?>
<p:tagLst xmlns:p="http://schemas.openxmlformats.org/presentationml/2006/main">
  <p:tag name="KSO_WM_DIAGRAM_VIRTUALLY_FRAME" val="{&quot;height&quot;:435.29062992126,&quot;left&quot;:82.5,&quot;top&quot;:143.2281102362205,&quot;width&quot;:995.2}"/>
</p:tagLst>
</file>

<file path=ppt/tags/tag35.xml><?xml version="1.0" encoding="utf-8"?>
<p:tagLst xmlns:p="http://schemas.openxmlformats.org/presentationml/2006/main">
  <p:tag name="KSO_WM_DIAGRAM_VIRTUALLY_FRAME" val="{&quot;height&quot;:435.29062992126,&quot;left&quot;:82.5,&quot;top&quot;:143.2281102362205,&quot;width&quot;:995.2}"/>
</p:tagLst>
</file>

<file path=ppt/tags/tag36.xml><?xml version="1.0" encoding="utf-8"?>
<p:tagLst xmlns:p="http://schemas.openxmlformats.org/presentationml/2006/main">
  <p:tag name="KSO_WM_DIAGRAM_VIRTUALLY_FRAME" val="{&quot;height&quot;:435.29062992126,&quot;left&quot;:82.5,&quot;top&quot;:143.2281102362205,&quot;width&quot;:995.2}"/>
</p:tagLst>
</file>

<file path=ppt/tags/tag37.xml><?xml version="1.0" encoding="utf-8"?>
<p:tagLst xmlns:p="http://schemas.openxmlformats.org/presentationml/2006/main">
  <p:tag name="KSO_WM_DIAGRAM_VIRTUALLY_FRAME" val="{&quot;height&quot;:435.29062992126,&quot;left&quot;:82.5,&quot;top&quot;:143.2281102362205,&quot;width&quot;:995.2}"/>
</p:tagLst>
</file>

<file path=ppt/tags/tag38.xml><?xml version="1.0" encoding="utf-8"?>
<p:tagLst xmlns:p="http://schemas.openxmlformats.org/presentationml/2006/main">
  <p:tag name="KSO_WM_DIAGRAM_VIRTUALLY_FRAME" val="{&quot;height&quot;:435.29062992126,&quot;left&quot;:82.5,&quot;top&quot;:143.2281102362205,&quot;width&quot;:995.2}"/>
</p:tagLst>
</file>

<file path=ppt/tags/tag39.xml><?xml version="1.0" encoding="utf-8"?>
<p:tagLst xmlns:p="http://schemas.openxmlformats.org/presentationml/2006/main">
  <p:tag name="KSO_WM_DIAGRAM_VIRTUALLY_FRAME" val="{&quot;height&quot;:435.29062992126,&quot;left&quot;:82.5,&quot;top&quot;:143.2281102362205,&quot;width&quot;:995.2}"/>
</p:tagLst>
</file>

<file path=ppt/tags/tag40.xml><?xml version="1.0" encoding="utf-8"?>
<p:tagLst xmlns:p="http://schemas.openxmlformats.org/presentationml/2006/main">
  <p:tag name="KSO_WM_DIAGRAM_VIRTUALLY_FRAME" val="{&quot;height&quot;:435.29062992126,&quot;left&quot;:82.5,&quot;top&quot;:143.2281102362205,&quot;width&quot;:995.2}"/>
</p:tagLst>
</file>

<file path=ppt/tags/tag41.xml><?xml version="1.0" encoding="utf-8"?>
<p:tagLst xmlns:p="http://schemas.openxmlformats.org/presentationml/2006/main">
  <p:tag name="KSO_WM_DIAGRAM_VIRTUALLY_FRAME" val="{&quot;height&quot;:435.29062992126,&quot;left&quot;:82.5,&quot;top&quot;:143.2281102362205,&quot;width&quot;:995.2}"/>
</p:tagLst>
</file>

<file path=ppt/tags/tag42.xml><?xml version="1.0" encoding="utf-8"?>
<p:tagLst xmlns:p="http://schemas.openxmlformats.org/presentationml/2006/main">
  <p:tag name="KSO_WM_DIAGRAM_VIRTUALLY_FRAME" val="{&quot;height&quot;:435.29062992126,&quot;left&quot;:82.5,&quot;top&quot;:143.2281102362205,&quot;width&quot;:995.2}"/>
</p:tagLst>
</file>

<file path=ppt/tags/tag43.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44.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45.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46.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47.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48.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49.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50.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51.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52.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53.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54.xml><?xml version="1.0" encoding="utf-8"?>
<p:tagLst xmlns:p="http://schemas.openxmlformats.org/presentationml/2006/main">
  <p:tag name="KSO_WM_DIAGRAM_VIRTUALLY_FRAME" val="{&quot;height&quot;:264.1594488188977,&quot;left&quot;:168.63748031496064,&quot;top&quot;:308.8374803149606,&quot;width&quot;:435.75007874015745}"/>
</p:tagLst>
</file>

<file path=ppt/tags/tag55.xml><?xml version="1.0" encoding="utf-8"?>
<p:tagLst xmlns:p="http://schemas.openxmlformats.org/presentationml/2006/main">
  <p:tag name="KSO_WM_DIAGRAM_VIRTUALLY_FRAME" val="{&quot;height&quot;:281.23125984251965,&quot;left&quot;:160.65,&quot;top&quot;:219.59062992125982,&quot;width&quot;:897.2}"/>
</p:tagLst>
</file>

<file path=ppt/tags/tag56.xml><?xml version="1.0" encoding="utf-8"?>
<p:tagLst xmlns:p="http://schemas.openxmlformats.org/presentationml/2006/main">
  <p:tag name="KSO_WM_DIAGRAM_VIRTUALLY_FRAME" val="{&quot;height&quot;:281.23125984251965,&quot;left&quot;:160.65,&quot;top&quot;:219.59062992125982,&quot;width&quot;:897.2}"/>
</p:tagLst>
</file>

<file path=ppt/tags/tag57.xml><?xml version="1.0" encoding="utf-8"?>
<p:tagLst xmlns:p="http://schemas.openxmlformats.org/presentationml/2006/main">
  <p:tag name="KSO_WM_DIAGRAM_VIRTUALLY_FRAME" val="{&quot;height&quot;:281.23125984251965,&quot;left&quot;:160.65,&quot;top&quot;:219.59062992125982,&quot;width&quot;:897.2}"/>
</p:tagLst>
</file>

<file path=ppt/tags/tag58.xml><?xml version="1.0" encoding="utf-8"?>
<p:tagLst xmlns:p="http://schemas.openxmlformats.org/presentationml/2006/main">
  <p:tag name="KSO_WM_DIAGRAM_VIRTUALLY_FRAME" val="{&quot;height&quot;:281.23125984251965,&quot;left&quot;:160.65,&quot;top&quot;:219.59062992125982,&quot;width&quot;:897.2}"/>
</p:tagLst>
</file>

<file path=ppt/tags/tag59.xml><?xml version="1.0" encoding="utf-8"?>
<p:tagLst xmlns:p="http://schemas.openxmlformats.org/presentationml/2006/main">
  <p:tag name="KSO_WM_DIAGRAM_VIRTUALLY_FRAME" val="{&quot;height&quot;:281.23125984251965,&quot;left&quot;:160.65,&quot;top&quot;:219.59062992125982,&quot;width&quot;:897.2}"/>
</p:tagLst>
</file>

<file path=ppt/tags/tag60.xml><?xml version="1.0" encoding="utf-8"?>
<p:tagLst xmlns:p="http://schemas.openxmlformats.org/presentationml/2006/main">
  <p:tag name="KSO_WM_DIAGRAM_VIRTUALLY_FRAME" val="{&quot;height&quot;:281.23125984251965,&quot;left&quot;:160.65,&quot;top&quot;:219.59062992125982,&quot;width&quot;:897.2}"/>
</p:tagLst>
</file>

<file path=ppt/tags/tag61.xml><?xml version="1.0" encoding="utf-8"?>
<p:tagLst xmlns:p="http://schemas.openxmlformats.org/presentationml/2006/main">
  <p:tag name="KSO_WM_DIAGRAM_VIRTUALLY_FRAME" val="{&quot;height&quot;:281.23125984251965,&quot;left&quot;:160.65,&quot;top&quot;:219.59062992125982,&quot;width&quot;:897.2}"/>
</p:tagLst>
</file>

<file path=ppt/tags/tag62.xml><?xml version="1.0" encoding="utf-8"?>
<p:tagLst xmlns:p="http://schemas.openxmlformats.org/presentationml/2006/main">
  <p:tag name="KSO_WM_DIAGRAM_VIRTUALLY_FRAME" val="{&quot;height&quot;:281.23125984251965,&quot;left&quot;:160.65,&quot;top&quot;:219.59062992125982,&quot;width&quot;:897.2}"/>
</p:tagLst>
</file>

<file path=ppt/tags/tag63.xml><?xml version="1.0" encoding="utf-8"?>
<p:tagLst xmlns:p="http://schemas.openxmlformats.org/presentationml/2006/main">
  <p:tag name="KSO_WM_DIAGRAM_VIRTUALLY_FRAME" val="{&quot;height&quot;:281.23125984251965,&quot;left&quot;:160.65,&quot;top&quot;:219.59062992125982,&quot;width&quot;:897.2}"/>
</p:tagLst>
</file>

<file path=ppt/tags/tag64.xml><?xml version="1.0" encoding="utf-8"?>
<p:tagLst xmlns:p="http://schemas.openxmlformats.org/presentationml/2006/main">
  <p:tag name="KSO_WM_DIAGRAM_VIRTUALLY_FRAME" val="{&quot;height&quot;:281.23125984251965,&quot;left&quot;:160.65,&quot;top&quot;:219.59062992125982,&quot;width&quot;:897.2}"/>
</p:tagLst>
</file>

<file path=ppt/tags/tag65.xml><?xml version="1.0" encoding="utf-8"?>
<p:tagLst xmlns:p="http://schemas.openxmlformats.org/presentationml/2006/main">
  <p:tag name="KSO_WM_DIAGRAM_VIRTUALLY_FRAME" val="{&quot;height&quot;:281.23125984251965,&quot;left&quot;:160.65,&quot;top&quot;:219.59062992125982,&quot;width&quot;:897.2}"/>
</p:tagLst>
</file>

<file path=ppt/tags/tag66.xml><?xml version="1.0" encoding="utf-8"?>
<p:tagLst xmlns:p="http://schemas.openxmlformats.org/presentationml/2006/main">
  <p:tag name="KSO_WM_DIAGRAM_VIRTUALLY_FRAME" val="{&quot;height&quot;:281.23125984251965,&quot;left&quot;:160.65,&quot;top&quot;:219.59062992125982,&quot;width&quot;:897.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10545</Words>
  <Application>WPS Presentation</Application>
  <PresentationFormat>On-screen Show (16:9)</PresentationFormat>
  <Paragraphs>354</Paragraphs>
  <Slides>18</Slides>
  <Notes>11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Merriweather</vt:lpstr>
      <vt:lpstr>Merriweather</vt:lpstr>
      <vt:lpstr>Merriweather</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WPS_1728367671</cp:lastModifiedBy>
  <cp:revision>3</cp:revision>
  <dcterms:created xsi:type="dcterms:W3CDTF">2026-01-28T17:56:00Z</dcterms:created>
  <dcterms:modified xsi:type="dcterms:W3CDTF">2026-01-28T18:46:29Z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0CB2E7B8B0D04B6B8CE13F67E7314F61_13</vt:lpwstr>
  </property>
  <property fmtid="{D5CDD505-2E9C-101B-9397-08002B2CF9AE}" pid="3" name="KSOProductBuildVer">
    <vt:lpwstr>2057-12.2.0.23196</vt:lpwstr>
  </property>
</Properties>
</file>